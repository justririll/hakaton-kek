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начинаем отсчёт: слайд стоит на экране, пока нас представляют. Демо открыть в соседней вкладке заранее.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A1. Заход. Утверждение: отчётность есть, управления по ней нет. Не торопиться — это рамка всего выступления. Закончить фразой «мы превращаем эту отчётность в действия».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A2. Проблема доказывается самим датасетом. Назвать три числа: 26 правок, 17 противоречий, 13 центров с пометками. Ключевая фраза: «мы не чинили данные молча — каждая правка записана».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Короткий переход. Показать обзор. Одна мысль: двадцать книг Excel сведены в один экран, и каждое число раскрывается до исходной строки отчёта.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B1, первая половина. Главная мысль: кластеризуем не посетителей — их персональных данных нет и быть не должно, — а аудиторные модели центров. Сравнивать можно только с равными.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B1, вторая половина. Назвать модели вслух, показать карту. Подчеркнуть: имена не придуманы вручную — они собираются из признаков, наиболее отличающих группу.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B2. Самый сильный слайд по критерию 1 — он же самый дорогой: двадцать баллов. Логика: на двадцати наблюдениях кластеры можно получить всегда, поэтому мы проверили, что они не случайны. Назвать p = 0,0005 и ARI 0,982. Если горит время — оставить только p-значение.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C, первая половина. Показать, что рекомендация — не «совет вообще», а разрыв с медианой сопоставимых центров, переведённый в натуральную величину.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C, вторая половина. Показать очередь мер на экране. Одна фраза: «пятьдесят адресных действий, у каждого — обоснование, эффект и уровень доверия». Обратить внимание на фильтр «только с надёжными данными».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D1. Критерий 4. Обязательно проговорить: резерв считается при НЕИЗМЕННОМ числе мероприятий — это не «дайте денег», а «используйте то, что уже есть». Показать полосы: мы сами вычли шесть мер по четырём центрам, у которых данные противоречивы.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D2. Критерий 4, вторая половина: рынок и бизнес-модель. Главное сказать вслух: единица тиражирования — сеть, а не центр, и стоимость обслуживания от числа центров почти не растёт. Объём рынка по открытым источникам не выдумываем: называем эффект на одну сеть и множитель. Если спросят про объём рынка — ответ именно такой.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E1. Положение требует показать процесс разработки. Логика рассказа: на каждом этапе было решение, и у каждого решения была цена. Сильнее всего звучит правая колонка — что мы выбросили. Назвать вслух хотя бы синтетический NPS и симулятор.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E. Отличает нас от типового дашборда. Сказать прямо: в задании была обратная связь, в датасете её нет, синтетику мы рисовать не стали. Показать панель «Чего в данных нет».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Быстрый слайд. Не зачитывать таблицу — назвать два факта: конвейер целиком пересчитывается за 9,6 секунды и всё воспроизводится с фиксированным сидом.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Блок F. Закрыть кругом: начали с «решений по отчётности не принимают» — заканчиваем «вот пятьдесят решений». Назвать ссылку и остановиться. Не добавлять новых фактов.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5897880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VITALIY SOFTWARE SOLUTIONS · ХАКАТОН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5897880" cy="9380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 spc="-14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ВитДашборд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25574"/>
            <a:ext cx="5897880" cy="15202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Аналитическая платформа сети центров прототипирования и творческих инкубаторов при вузах культуры: динамика показателей, кластеризация аудиторных моделей и адресные рекомендации по программированию.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774960"/>
            <a:ext cx="5897880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939552"/>
            <a:ext cx="3656685" cy="2326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Центров в сети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893832"/>
            <a:ext cx="5897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8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339980"/>
            <a:ext cx="5897880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504572"/>
            <a:ext cx="3656685" cy="2326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Аудиторных моделей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58852"/>
            <a:ext cx="5897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8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905000"/>
            <a:ext cx="5897880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5069592"/>
            <a:ext cx="3656685" cy="2326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Адресных мер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023872"/>
            <a:ext cx="5897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8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5470020"/>
            <a:ext cx="5897880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5634612"/>
            <a:ext cx="3656685" cy="2326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Подтверждённый резерв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588892"/>
            <a:ext cx="5897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8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9,7</a:t>
            </a: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 млн 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035040"/>
            <a:ext cx="5897880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67728" y="402336"/>
            <a:ext cx="4657039" cy="5632704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0" y="658368"/>
            <a:ext cx="4144975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МАРШРУТ ЗАЩИТЫ · 7 МИНУТ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1092708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3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8" y="1078992"/>
            <a:ext cx="2663647" cy="259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Проблема и решение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1097280"/>
            <a:ext cx="4144975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9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КОНЦЕПЦИЯ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1506297"/>
            <a:ext cx="4144975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0" y="1724464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3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0:25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82128" y="1710748"/>
            <a:ext cx="2663647" cy="259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Что в датасете на самом деле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1729036"/>
            <a:ext cx="4144975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9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ДАННЫЕ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2138054"/>
            <a:ext cx="4144975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0" y="2356221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3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1:10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82128" y="2342505"/>
            <a:ext cx="2663647" cy="259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Кластеризация аудиторных моделей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2360793"/>
            <a:ext cx="4144975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9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МЕТОД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23760" y="2769811"/>
            <a:ext cx="4144975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0" y="2987978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3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2:10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82128" y="2974262"/>
            <a:ext cx="2663647" cy="259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Проверка: кластеры не случайны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2992550"/>
            <a:ext cx="4144975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9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РЕЗУЛЬТАТ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401568"/>
            <a:ext cx="4144975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0" y="3619735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3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3:10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2128" y="3606019"/>
            <a:ext cx="2663647" cy="259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Адресные рекомендации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3624307"/>
            <a:ext cx="4144975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9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РЕЗУЛЬТАТ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0" y="4033324"/>
            <a:ext cx="4144975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3760" y="425149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3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4:10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2128" y="4237776"/>
            <a:ext cx="2663647" cy="259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Экономика, рынок, модель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0" y="4256064"/>
            <a:ext cx="4144975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9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РЕЗУЛЬТАТ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23760" y="4665081"/>
            <a:ext cx="4144975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23760" y="4883249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3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5:10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82128" y="4869533"/>
            <a:ext cx="2663647" cy="259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Процесс разработки и отказы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887821"/>
            <a:ext cx="4144975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9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ПРОЦЕСС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5296838"/>
            <a:ext cx="4144975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23760" y="5515005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3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6:10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82128" y="5501289"/>
            <a:ext cx="2663647" cy="259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Внедрение и демо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23760" y="5519577"/>
            <a:ext cx="4144975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9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ИТОГ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VITALIYSOFTWARE.DUCKDNS.ORG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ЗАЩИТА · 7 МИНУТ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ПРОБЛЕМА · 0:00–0:25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11057839" cy="5737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Отчётность сдают. Решений по ней не принимают.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7602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61922"/>
            <a:ext cx="3466490" cy="285421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881378"/>
            <a:ext cx="3027578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6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65426"/>
            <a:ext cx="3027578" cy="363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Двадцать шаблонов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719969"/>
            <a:ext cx="3027578" cy="1070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Каждый центр заполняет формы по-своему: где-то тысячи рублей подписаны рублями, где-то итог не сходится с подпунктами. Свести их вручную — работа на неделю.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3909460"/>
            <a:ext cx="3027578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4064908"/>
            <a:ext cx="3027578" cy="268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26 правок потребовалось только на разбор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2602" y="1661922"/>
            <a:ext cx="3466490" cy="285421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2058" y="1881378"/>
            <a:ext cx="3027578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6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2058" y="2265426"/>
            <a:ext cx="3027578" cy="363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Сравнивать не с чем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2058" y="2719969"/>
            <a:ext cx="3027578" cy="1070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Консерватория и центр цифрового контента работают с разной аудиторией. Сравнение «всех со всеми» даёт рейтинг, а не управленческий вывод.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2058" y="3909460"/>
            <a:ext cx="3027578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2058" y="4064908"/>
            <a:ext cx="3027578" cy="500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5 аудиторных моделей вместо одного рейтинга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8276" y="1661922"/>
            <a:ext cx="3466490" cy="285421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7732" y="1881378"/>
            <a:ext cx="3027578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6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7732" y="2265426"/>
            <a:ext cx="3027578" cy="363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Видно только постфактум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7732" y="2719969"/>
            <a:ext cx="3027578" cy="81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К декабрю выясняется, что часть центров не вышла на план. В сентябре это уже видно в цифрах — но никто их не сводит.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77732" y="3909460"/>
            <a:ext cx="3027578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77732" y="4064908"/>
            <a:ext cx="3027578" cy="268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7 центров в зоне риска — видно уже сейчас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222068"/>
            <a:ext cx="9692640" cy="8495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Мы сделали платформу, которая превращает эту отчётность в конкретные управленческие действия.</a:t>
            </a:r>
            <a:r>
              <a:rPr sz="19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Она развёрнута, работает и открыта по ссылке.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911172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ВИТДАШБОРД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02 /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382512"/>
            <a:ext cx="10344607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2 · АКТУАЛЬНОСТЬ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6217920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6217920"/>
            <a:ext cx="1474378" cy="12700"/>
          </a:xfrm>
          <a:prstGeom prst="rect">
            <a:avLst/>
          </a:prstGeom>
          <a:solidFill>
            <a:srgbClr val="84806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АКТУАЛЬНОСТЬ · 0:25–1:10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11057839" cy="5737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Проблема видна в самом датасете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7602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61922"/>
            <a:ext cx="1844040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Правок при разборе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14749"/>
            <a:ext cx="1844040" cy="550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02282"/>
            <a:ext cx="1844040" cy="4241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единицы, пустые строки, расхождения итогов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9568" y="1661922"/>
            <a:ext cx="1844040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Противоречий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39568" y="1914749"/>
            <a:ext cx="1844040" cy="550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9568" y="2502282"/>
            <a:ext cx="1844040" cy="4241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показатели не сходятся между формами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2208" y="1661922"/>
            <a:ext cx="1844040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Центров с пометками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2208" y="1914749"/>
            <a:ext cx="1844040" cy="550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13</a:t>
            </a: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 из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2208" y="2502282"/>
            <a:ext cx="1844040" cy="4241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у четырёх вклад в резерв не засчитан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273902"/>
            <a:ext cx="5989320" cy="2761137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493358"/>
            <a:ext cx="5550408" cy="363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Три примера из журнала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415364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9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21638"/>
            <a:ext cx="5239512" cy="5357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Строка подписана «тыс. рублей», но перевод даёт величину </a:t>
            </a: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в 475 раз выше медианы сети</a:t>
            </a: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— подпись признана ошибочной, значение оставлено в рублях.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799139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9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67135"/>
            <a:ext cx="5239512" cy="5357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Разработано </a:t>
            </a: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69 форматов при 21 обученном</a:t>
            </a: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: меньше одного участника на мероприятие — вероятна ошибка в строках 3.1–3.4 Формы 2.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544463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9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412632"/>
            <a:ext cx="5239512" cy="5357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Резидентов </a:t>
            </a: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131 при 58 обученных</a:t>
            </a: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— показатели ведутся по разным контурам, сравнение по ним недостоверно.</a:t>
            </a:r>
          </a:p>
        </p:txBody>
      </p:sp>
      <p:pic>
        <p:nvPicPr>
          <p:cNvPr id="22" name="Picture 21" descr="qua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661922"/>
            <a:ext cx="4618286" cy="4373118"/>
          </a:xfrm>
          <a:prstGeom prst="rect">
            <a:avLst/>
          </a:prstGeom>
          <a:ln w="9525">
            <a:solidFill>
              <a:srgbClr val="D3CCBC"/>
            </a:solidFill>
          </a:ln>
          <a:effectLst/>
        </p:spPr>
      </p:pic>
      <p:sp>
        <p:nvSpPr>
          <p:cNvPr id="23" name="TextBox 22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РАЗДЕЛ «КАЧЕСТВО ДАННЫХ»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03 / 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382512"/>
            <a:ext cx="10344607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2 · АКТУАЛЬНОСТЬ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217920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217920"/>
            <a:ext cx="2211567" cy="12700"/>
          </a:xfrm>
          <a:prstGeom prst="rect">
            <a:avLst/>
          </a:prstGeom>
          <a:solidFill>
            <a:srgbClr val="84806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РЕШЕНИЕ · 1:10–1:25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11057839" cy="5737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Двадцать книг Excel — один экран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7602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661922"/>
            <a:ext cx="4851867" cy="4373118"/>
          </a:xfrm>
          <a:prstGeom prst="rect">
            <a:avLst/>
          </a:prstGeom>
          <a:ln w="9525">
            <a:solidFill>
              <a:srgbClr val="D3CCBC"/>
            </a:solidFill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6153912" y="5518018"/>
            <a:ext cx="5470855" cy="553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Источник — только годовые формы отчётности. Ни одного показателя, которого нет в исходных файлах.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53912" y="5335138"/>
            <a:ext cx="5470855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53912" y="4690101"/>
            <a:ext cx="5470855" cy="553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Семь разделов: обзор, динамика, вовлечённость, кластеры, организации, рекомендации, качество данных.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3912" y="4379205"/>
            <a:ext cx="5470855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53912" y="1748790"/>
            <a:ext cx="256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8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9944" y="1716786"/>
            <a:ext cx="5214823" cy="600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4 193 участника</a:t>
            </a:r>
            <a:r>
              <a:rPr sz="13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за девять отчётных месяцев, 307 мероприятий, 2 074 готовые работы, 25,0 млн ₽ платных услуг.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3912" y="2678975"/>
            <a:ext cx="256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8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2646971"/>
            <a:ext cx="5214823" cy="600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7 центров</a:t>
            </a:r>
            <a:r>
              <a:rPr sz="13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при текущем темпе не выходят на годовую цель — это видно в сентябре, а не в декабре.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609160"/>
            <a:ext cx="256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8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9944" y="3577156"/>
            <a:ext cx="5214823" cy="600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Любое число раскрывается до карточки центра, исходного файла и строки формы.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РАЗДЕЛ «ОБЗОР»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04 /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382512"/>
            <a:ext cx="10344607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1 · ПРОРАБОТКА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217920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6217920"/>
            <a:ext cx="2948757" cy="12700"/>
          </a:xfrm>
          <a:prstGeom prst="rect">
            <a:avLst/>
          </a:prstGeom>
          <a:solidFill>
            <a:srgbClr val="84806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КЛАСТЕРИЗАЦИЯ · 1:25–1:50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11057839" cy="5737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Сравнивать можно только с равными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7602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61922"/>
            <a:ext cx="5291175" cy="1149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Персональных данных посетителей в отчётности нет и быть не должно. Зато у каждого центра есть </a:t>
            </a:r>
            <a:r>
              <a:rPr sz="16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профиль аудитории</a:t>
            </a:r>
            <a:r>
              <a:rPr sz="16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— и его можно кластеризовать.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085537"/>
            <a:ext cx="5291175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41569"/>
            <a:ext cx="2499283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СОСТАВ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15889"/>
            <a:ext cx="2499283" cy="7853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Доли четырёх каналов обучения: модули, мастер-классы, повышение квалификации, переподготовка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8819" y="3341569"/>
            <a:ext cx="2499283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МАСШТАБ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8819" y="3615889"/>
            <a:ext cx="2499283" cy="5357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Размер аудитории и ширина линейки форматов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734024"/>
            <a:ext cx="2499283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ГЛУБИНА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008344"/>
            <a:ext cx="2499283" cy="5357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Наполняемость мероприятия и доля закрепившихся резидентов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8819" y="4734024"/>
            <a:ext cx="2499283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ОТДАЧА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8819" y="5008344"/>
            <a:ext cx="2499283" cy="5357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Творческие продукты, платные услуги, публичность результата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33591" y="1661922"/>
            <a:ext cx="5291175" cy="4373118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3047" y="1917954"/>
            <a:ext cx="4852263" cy="363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Одна техническая деталь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2345065"/>
            <a:ext cx="4852263" cy="1070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Доли каналов — </a:t>
            </a: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композиционные данные</a:t>
            </a: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: они лежат на симплексе, сумма всегда равна единице. Признаки линейно зависимы, и обычная стандартизация для них некорректна — евклидово расстояние искажает близость.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3635140"/>
            <a:ext cx="4852263" cy="81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Применено </a:t>
            </a: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центрированное логарифмическое преобразование</a:t>
            </a: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с мультипликативной заменой нулей — стандартная практика для составов. Дальше — главные компоненты и кластеризация уже в этом пространстве.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53047" y="4448655"/>
            <a:ext cx="4852263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53047" y="4704687"/>
            <a:ext cx="4852263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Признаков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4704687"/>
            <a:ext cx="4852263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3047" y="4937834"/>
            <a:ext cx="4852263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3047" y="5015558"/>
            <a:ext cx="4852263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Наблюдений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047" y="5015558"/>
            <a:ext cx="4852263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53047" y="5248705"/>
            <a:ext cx="4852263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3047" y="5326429"/>
            <a:ext cx="4852263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Компонент после сжатия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3047" y="5326429"/>
            <a:ext cx="4852263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3047" y="5559576"/>
            <a:ext cx="4852263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3047" y="5637300"/>
            <a:ext cx="4852263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Объяснённый разброс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3047" y="5637300"/>
            <a:ext cx="4852263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90 %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ПРИЗНАКОВОЕ ПРОСТРАНСТВО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05 / 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382512"/>
            <a:ext cx="10344607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1 · ПРОРАБОТКА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217920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217920"/>
            <a:ext cx="3685946" cy="12700"/>
          </a:xfrm>
          <a:prstGeom prst="rect">
            <a:avLst/>
          </a:prstGeom>
          <a:solidFill>
            <a:srgbClr val="84806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АУДИТОРНЫЕ МОДЕЛИ · 1:50–2:10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11057839" cy="5737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Что сеть делает на самом деле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7602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661922"/>
            <a:ext cx="5564596" cy="4373118"/>
          </a:xfrm>
          <a:prstGeom prst="rect">
            <a:avLst/>
          </a:prstGeom>
          <a:ln w="9525">
            <a:solidFill>
              <a:srgbClr val="D3CCBC"/>
            </a:solidFill>
          </a:ln>
          <a:effectLst/>
        </p:spPr>
      </p:pic>
      <p:sp>
        <p:nvSpPr>
          <p:cNvPr id="6" name="Rounded Rectangle 5"/>
          <p:cNvSpPr/>
          <p:nvPr/>
        </p:nvSpPr>
        <p:spPr>
          <a:xfrm>
            <a:off x="6702552" y="1661922"/>
            <a:ext cx="4922215" cy="77221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922008" y="1876806"/>
            <a:ext cx="105156" cy="105156"/>
          </a:xfrm>
          <a:prstGeom prst="ellipse">
            <a:avLst/>
          </a:prstGeom>
          <a:solidFill>
            <a:srgbClr val="2B64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41464" y="1817370"/>
            <a:ext cx="41541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Массовые просветители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22008" y="1817370"/>
            <a:ext cx="44833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41464" y="2119122"/>
            <a:ext cx="4263847" cy="24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Массовый охват и широкая линейка форматов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02552" y="2562148"/>
            <a:ext cx="4922215" cy="77221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922008" y="2777032"/>
            <a:ext cx="105156" cy="105156"/>
          </a:xfrm>
          <a:prstGeom prst="ellipse">
            <a:avLst/>
          </a:prstGeom>
          <a:solidFill>
            <a:srgbClr val="A76CB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41464" y="2717596"/>
            <a:ext cx="41541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Медийные площадки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2008" y="2717596"/>
            <a:ext cx="44833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41464" y="3019348"/>
            <a:ext cx="4263847" cy="24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Заметность в медиа при камерном формате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2552" y="3462375"/>
            <a:ext cx="4922215" cy="77221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22008" y="3677259"/>
            <a:ext cx="105156" cy="105156"/>
          </a:xfrm>
          <a:prstGeom prst="ellipse">
            <a:avLst/>
          </a:prstGeom>
          <a:solidFill>
            <a:srgbClr val="AA513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41464" y="3617823"/>
            <a:ext cx="41541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Продуктовые мастерские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8" y="3617823"/>
            <a:ext cx="44833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1464" y="3919575"/>
            <a:ext cx="4263847" cy="24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Сильное ядро резидентов, высокая отдача в продуктах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02552" y="4362602"/>
            <a:ext cx="4922215" cy="77221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922008" y="4577486"/>
            <a:ext cx="105156" cy="105156"/>
          </a:xfrm>
          <a:prstGeom prst="ellipse">
            <a:avLst/>
          </a:prstGeom>
          <a:solidFill>
            <a:srgbClr val="9E962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41464" y="4518050"/>
            <a:ext cx="41541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Открытые бесплатные площадки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4518050"/>
            <a:ext cx="44833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1464" y="4819802"/>
            <a:ext cx="4263847" cy="24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Бесплатная модель, крупные потоки, узкая линейка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2552" y="5262829"/>
            <a:ext cx="4922215" cy="772210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922008" y="5477713"/>
            <a:ext cx="105156" cy="105156"/>
          </a:xfrm>
          <a:prstGeom prst="ellipse">
            <a:avLst/>
          </a:prstGeom>
          <a:solidFill>
            <a:srgbClr val="078E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41464" y="5418277"/>
            <a:ext cx="41541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Профессиональные академии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5418277"/>
            <a:ext cx="44833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41464" y="5720029"/>
            <a:ext cx="4263847" cy="24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Ставка на повышение квалификации и мастер-классы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РАЗДЕЛ «КЛАСТЕРЫ»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06 / 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382512"/>
            <a:ext cx="10344607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1 · ПРОРАБОТКА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217920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217920"/>
            <a:ext cx="4423135" cy="12700"/>
          </a:xfrm>
          <a:prstGeom prst="rect">
            <a:avLst/>
          </a:prstGeom>
          <a:solidFill>
            <a:srgbClr val="84806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ДОКАЗАТЕЛЬСТВО · 2:10–3:10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11057839" cy="971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5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На двадцати наблюдениях кластеры получаются всегда. Мы проверили, что эти — настоящие.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85442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2059762"/>
            <a:ext cx="3466490" cy="3212175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2279218"/>
            <a:ext cx="3027578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ПЕРЕСТАНОВОЧНЫЙ ТЕСТ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544622"/>
            <a:ext cx="3027578" cy="6713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Структура не случайна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279974"/>
            <a:ext cx="3027578" cy="7446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Признаки перемешиваются внутри столбцов, кластеризация повторяется — так получается, какой силуэт даёт чистый шум.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4143516"/>
            <a:ext cx="3027578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4298964"/>
            <a:ext cx="3027578" cy="20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Наблюдаемый силуэт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298964"/>
            <a:ext cx="3027578" cy="20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0,326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" y="4516608"/>
            <a:ext cx="3027578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594332"/>
            <a:ext cx="3027578" cy="20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p-значение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594332"/>
            <a:ext cx="3027578" cy="20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0,0005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" y="4811977"/>
            <a:ext cx="3027578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4889701"/>
            <a:ext cx="3027578" cy="20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Размер эффекта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4889701"/>
            <a:ext cx="3027578" cy="20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9,4 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2602" y="2059762"/>
            <a:ext cx="3466490" cy="3212175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2058" y="2279218"/>
            <a:ext cx="3027578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ИСКЛЮЧЕНИЕ ПО ОДНОМУ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2058" y="2544622"/>
            <a:ext cx="3027578" cy="6713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Разбиение не держится на одном центре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2058" y="3279974"/>
            <a:ext cx="3027578" cy="7446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Каждый центр по очереди убирается, модель пересобирается, результат сравнивается по индексу Рэнда.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82058" y="4143516"/>
            <a:ext cx="3027578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82058" y="4298964"/>
            <a:ext cx="3027578" cy="20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Средний ARI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2058" y="4298964"/>
            <a:ext cx="3027578" cy="20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0,982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82058" y="4516608"/>
            <a:ext cx="3027578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82058" y="4594332"/>
            <a:ext cx="3027578" cy="20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Худший прогон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2058" y="4594332"/>
            <a:ext cx="3027578" cy="20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0,849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82058" y="4811977"/>
            <a:ext cx="3027578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82058" y="4889701"/>
            <a:ext cx="3027578" cy="20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Сменили кластер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2058" y="4889701"/>
            <a:ext cx="3027578" cy="20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0 центров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58276" y="2059762"/>
            <a:ext cx="3466490" cy="3212175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77732" y="2279218"/>
            <a:ext cx="3027578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СОГЛАСИЕ АЛГОРИТМОВ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7732" y="2544622"/>
            <a:ext cx="3027578" cy="6713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Три метода дают одно разбиение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7732" y="3279974"/>
            <a:ext cx="3027578" cy="50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Разные семейства сходятся на близком результате — значит, дело в данных, а не в выбранном методе.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77732" y="4143516"/>
            <a:ext cx="3027578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7732" y="4298964"/>
            <a:ext cx="3027578" cy="20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k-средние ~ Уорд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7732" y="4298964"/>
            <a:ext cx="3027578" cy="20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1,000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77732" y="4516608"/>
            <a:ext cx="3027578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77732" y="4594332"/>
            <a:ext cx="3027578" cy="20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GMM ~ k-средние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77732" y="4594332"/>
            <a:ext cx="3027578" cy="20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0,757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77732" y="4811977"/>
            <a:ext cx="3027578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77732" y="4889701"/>
            <a:ext cx="3027578" cy="20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Устойчивость мер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7732" y="4889701"/>
            <a:ext cx="3027578" cy="20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96 %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5243698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5518018"/>
            <a:ext cx="10241280" cy="553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Число кластеров тоже не назначено рукой: перебор k от 2 до 5 по четырём метрикам сразу — силуэт, стабильность на бутстрапе, баланс размеров и индекс Дэвиса—Болдина. Сводный балл у </a:t>
            </a: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k = 5</a:t>
            </a: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— 0,976 против 0,592 у ближайшего.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РАЗДЕЛ «КЛАСТЕРЫ» → ПРОВЕРКИ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07 / 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382512"/>
            <a:ext cx="10344607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1 · ПРОРАБОТКА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6217920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66928" y="6217920"/>
            <a:ext cx="5160324" cy="12700"/>
          </a:xfrm>
          <a:prstGeom prst="rect">
            <a:avLst/>
          </a:prstGeom>
          <a:solidFill>
            <a:srgbClr val="84806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РЕКОМЕНДАЦИИ · 3:10–3:40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11057839" cy="5737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Не совет, а посчитанный разрыв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7602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9392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8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661922"/>
            <a:ext cx="5586984" cy="600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Центр сравнивается с </a:t>
            </a:r>
            <a:r>
              <a:rPr sz="13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медианой своей аудиторной модели</a:t>
            </a:r>
            <a:r>
              <a:rPr sz="13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. Если в модели меньше пяти центров — со всей сетью; круг сравнения указан в каждой мере.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78855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8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646851"/>
            <a:ext cx="5586984" cy="600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Разрыв переводится в натуральную величину: участники, работы, рубли, публикации.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63784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8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631780"/>
            <a:ext cx="5586984" cy="600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Приоритет складывается из размера разрыва, доли затронутой аудитории и </a:t>
            </a:r>
            <a:r>
              <a:rPr sz="13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надёжности исходных данных</a:t>
            </a:r>
            <a:r>
              <a:rPr sz="13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648713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8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616709"/>
            <a:ext cx="5586984" cy="6008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Мера пересобирается на возмущённых данных — </a:t>
            </a:r>
            <a:r>
              <a:rPr sz="13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20 прогонов</a:t>
            </a:r>
            <a:r>
              <a:rPr sz="13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, чтобы отсеять артефакты одной выборки.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22008" y="1661922"/>
            <a:ext cx="4702759" cy="4373118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41464" y="1917954"/>
            <a:ext cx="4263847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ПРИМЕР МЕРЫ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41464" y="2183358"/>
            <a:ext cx="4263847" cy="6713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Поднять наполняемость мастер-классов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41464" y="2918709"/>
            <a:ext cx="4263847" cy="1070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На «Мастер-классы» приходит </a:t>
            </a: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0,3 чел.</a:t>
            </a: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на мероприятие при медиане </a:t>
            </a: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13,8</a:t>
            </a: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в своей модели — это нижний квартиль. Мероприятия уже проводятся (68 шт.), значит резерв закрывается работой с набором, а не новой программой.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41464" y="4220449"/>
            <a:ext cx="4263847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41464" y="4476481"/>
            <a:ext cx="4263847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Приоритет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1464" y="4476481"/>
            <a:ext cx="4263847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100 из 100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41464" y="4709628"/>
            <a:ext cx="4263847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4787352"/>
            <a:ext cx="4263847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Оценка эффекта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1464" y="4787352"/>
            <a:ext cx="4263847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+914 чел.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41464" y="5020499"/>
            <a:ext cx="4263847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41464" y="5098223"/>
            <a:ext cx="4263847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Лучший в группе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1464" y="5098223"/>
            <a:ext cx="4263847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ОГИК · 130,2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41464" y="5550827"/>
            <a:ext cx="1521735" cy="301332"/>
          </a:xfrm>
          <a:prstGeom prst="roundRect">
            <a:avLst>
              <a:gd name="adj" fmla="val 50000"/>
            </a:avLst>
          </a:prstGeom>
          <a:solidFill>
            <a:srgbClr val="F7F1E4"/>
          </a:solidFill>
          <a:ln w="9525">
            <a:solidFill>
              <a:srgbClr val="DCCBA6"/>
            </a:solidFill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8760A"/>
                </a:solidFill>
                <a:latin typeface="Calibri"/>
                <a:ea typeface="Calibri"/>
                <a:cs typeface="Calibri"/>
              </a:rPr>
              <a:t>данные под вопросом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РАЗДЕЛ «РЕКОМЕНДАЦИИ»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08 / 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382512"/>
            <a:ext cx="10344607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3 · ВОСТРЕБОВАННОСТЬ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217920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217920"/>
            <a:ext cx="5897514" cy="12700"/>
          </a:xfrm>
          <a:prstGeom prst="rect">
            <a:avLst/>
          </a:prstGeom>
          <a:solidFill>
            <a:srgbClr val="84806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ОЧЕРЕДЬ МЕР · 3:40–4:10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11057839" cy="5737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Очередь мер с доказательной базой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7602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re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661922"/>
            <a:ext cx="6293532" cy="4373118"/>
          </a:xfrm>
          <a:prstGeom prst="rect">
            <a:avLst/>
          </a:prstGeom>
          <a:ln w="9525">
            <a:solidFill>
              <a:srgbClr val="D3CCBC"/>
            </a:solidFill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7927848" y="1661922"/>
            <a:ext cx="3696919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Мер в очереди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7848" y="1914749"/>
            <a:ext cx="3696919" cy="5819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10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7848" y="2533288"/>
            <a:ext cx="3696919" cy="23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по семи типам, средний приоритет 51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7848" y="2845308"/>
            <a:ext cx="369691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8" y="3119628"/>
            <a:ext cx="3696919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Устойчивы к возмущению данных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8" y="3372455"/>
            <a:ext cx="3696919" cy="5819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10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96</a:t>
            </a:r>
            <a:r>
              <a:rPr sz="1019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7848" y="3990994"/>
            <a:ext cx="3696919" cy="23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20 прогонов, средняя выживаемость 98 %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7848" y="4303014"/>
            <a:ext cx="369691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7848" y="4577334"/>
            <a:ext cx="3696919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Центров охвачено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7848" y="4830161"/>
            <a:ext cx="3696919" cy="5819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spc="-10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20</a:t>
            </a:r>
            <a:r>
              <a:rPr sz="1019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 из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7848" y="5448700"/>
            <a:ext cx="3696919" cy="23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у каждого — своя очередь действий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РАЗДЕЛ «РЕКОМЕНДАЦИИ»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09 / 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382512"/>
            <a:ext cx="10344607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3 · ВОСТРЕБОВАННОСТЬ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217920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6217920"/>
            <a:ext cx="6634703" cy="12700"/>
          </a:xfrm>
          <a:prstGeom prst="rect">
            <a:avLst/>
          </a:prstGeom>
          <a:solidFill>
            <a:srgbClr val="84806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A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B8677"/>
                </a:solidFill>
                <a:latin typeface="Consolas"/>
                <a:ea typeface="Consolas"/>
                <a:cs typeface="Consolas"/>
              </a:rPr>
              <a:t>ЭКОНОМИКА · 4:10–4:40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11057839" cy="5737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F2EFE8"/>
                </a:solidFill>
                <a:latin typeface="Georgia"/>
                <a:ea typeface="Georgia"/>
                <a:cs typeface="Georgia"/>
              </a:rPr>
              <a:t>Резерв закрывается без роста бюджета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7602"/>
            <a:ext cx="11057839" cy="6350"/>
          </a:xfrm>
          <a:prstGeom prst="rect">
            <a:avLst/>
          </a:prstGeom>
          <a:solidFill>
            <a:srgbClr val="3B393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789938"/>
            <a:ext cx="1973823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4B0A2"/>
                </a:solidFill>
                <a:latin typeface="Calibri"/>
                <a:ea typeface="Calibri"/>
                <a:cs typeface="Calibri"/>
              </a:rPr>
              <a:t>Платные услуги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042765"/>
            <a:ext cx="1973823" cy="6749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100">
                <a:solidFill>
                  <a:srgbClr val="F2EFE8"/>
                </a:solidFill>
                <a:latin typeface="Calibri"/>
                <a:ea typeface="Calibri"/>
                <a:cs typeface="Calibri"/>
              </a:rPr>
              <a:t>+9,7</a:t>
            </a:r>
            <a:r>
              <a:rPr sz="1200" b="0">
                <a:solidFill>
                  <a:srgbClr val="8B8677"/>
                </a:solidFill>
                <a:latin typeface="Calibri"/>
                <a:ea typeface="Calibri"/>
                <a:cs typeface="Calibri"/>
              </a:rPr>
              <a:t> млн 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754321"/>
            <a:ext cx="1973823" cy="23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B8677"/>
                </a:solidFill>
                <a:latin typeface="Calibri"/>
                <a:ea typeface="Calibri"/>
                <a:cs typeface="Calibri"/>
              </a:rPr>
              <a:t>9 центров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8495" y="1789938"/>
            <a:ext cx="1973823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4B0A2"/>
                </a:solidFill>
                <a:latin typeface="Calibri"/>
                <a:ea typeface="Calibri"/>
                <a:cs typeface="Calibri"/>
              </a:rPr>
              <a:t>Творческие работы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78495" y="2042765"/>
            <a:ext cx="1973823" cy="6749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100">
                <a:solidFill>
                  <a:srgbClr val="F2EFE8"/>
                </a:solidFill>
                <a:latin typeface="Calibri"/>
                <a:ea typeface="Calibri"/>
                <a:cs typeface="Calibri"/>
              </a:rPr>
              <a:t>+1 411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78495" y="2754321"/>
            <a:ext cx="1973823" cy="23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B8677"/>
                </a:solidFill>
                <a:latin typeface="Calibri"/>
                <a:ea typeface="Calibri"/>
                <a:cs typeface="Calibri"/>
              </a:rPr>
              <a:t>8 центров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0063" y="1789938"/>
            <a:ext cx="1973823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4B0A2"/>
                </a:solidFill>
                <a:latin typeface="Calibri"/>
                <a:ea typeface="Calibri"/>
                <a:cs typeface="Calibri"/>
              </a:rPr>
              <a:t>Участники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0063" y="2042765"/>
            <a:ext cx="1973823" cy="6749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100">
                <a:solidFill>
                  <a:srgbClr val="F2EFE8"/>
                </a:solidFill>
                <a:latin typeface="Calibri"/>
                <a:ea typeface="Calibri"/>
                <a:cs typeface="Calibri"/>
              </a:rPr>
              <a:t>+753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90063" y="2754321"/>
            <a:ext cx="1973823" cy="23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B8677"/>
                </a:solidFill>
                <a:latin typeface="Calibri"/>
                <a:ea typeface="Calibri"/>
                <a:cs typeface="Calibri"/>
              </a:rPr>
              <a:t>13 центров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1631" y="1789938"/>
            <a:ext cx="1973823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4B0A2"/>
                </a:solidFill>
                <a:latin typeface="Calibri"/>
                <a:ea typeface="Calibri"/>
                <a:cs typeface="Calibri"/>
              </a:rPr>
              <a:t>Публикации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1631" y="2042765"/>
            <a:ext cx="1973823" cy="6749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100">
                <a:solidFill>
                  <a:srgbClr val="F2EFE8"/>
                </a:solidFill>
                <a:latin typeface="Calibri"/>
                <a:ea typeface="Calibri"/>
                <a:cs typeface="Calibri"/>
              </a:rPr>
              <a:t>+317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1631" y="2754321"/>
            <a:ext cx="1973823" cy="23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B8677"/>
                </a:solidFill>
                <a:latin typeface="Calibri"/>
                <a:ea typeface="Calibri"/>
                <a:cs typeface="Calibri"/>
              </a:rPr>
              <a:t>8 центров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3199" y="1789938"/>
            <a:ext cx="1973823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4B0A2"/>
                </a:solidFill>
                <a:latin typeface="Calibri"/>
                <a:ea typeface="Calibri"/>
                <a:cs typeface="Calibri"/>
              </a:rPr>
              <a:t>Мероприятия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3199" y="2042765"/>
            <a:ext cx="1973823" cy="6749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100">
                <a:solidFill>
                  <a:srgbClr val="F2EFE8"/>
                </a:solidFill>
                <a:latin typeface="Calibri"/>
                <a:ea typeface="Calibri"/>
                <a:cs typeface="Calibri"/>
              </a:rPr>
              <a:t>+81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3199" y="2754321"/>
            <a:ext cx="1973823" cy="23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B8677"/>
                </a:solidFill>
                <a:latin typeface="Calibri"/>
                <a:ea typeface="Calibri"/>
                <a:cs typeface="Calibri"/>
              </a:rPr>
              <a:t>6 центров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368731"/>
            <a:ext cx="11057839" cy="6350"/>
          </a:xfrm>
          <a:prstGeom prst="rect">
            <a:avLst/>
          </a:prstGeom>
          <a:solidFill>
            <a:srgbClr val="3B393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661339"/>
            <a:ext cx="3307994" cy="363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F2EFE8"/>
                </a:solidFill>
                <a:latin typeface="Georgia"/>
                <a:ea typeface="Georgia"/>
                <a:cs typeface="Georgia"/>
              </a:rPr>
              <a:t>Откуда берётся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88451"/>
            <a:ext cx="3307994" cy="1070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4B0A2"/>
                </a:solidFill>
                <a:latin typeface="Calibri"/>
                <a:ea typeface="Calibri"/>
                <a:cs typeface="Calibri"/>
              </a:rPr>
              <a:t>Это разрыв между центром и медианой </a:t>
            </a:r>
            <a:r>
              <a:rPr sz="1150" b="1">
                <a:solidFill>
                  <a:srgbClr val="F2EFE8"/>
                </a:solidFill>
                <a:latin typeface="Calibri"/>
                <a:ea typeface="Calibri"/>
                <a:cs typeface="Calibri"/>
              </a:rPr>
              <a:t>сопоставимых</a:t>
            </a:r>
            <a:r>
              <a:rPr sz="1150" b="0">
                <a:solidFill>
                  <a:srgbClr val="B4B0A2"/>
                </a:solidFill>
                <a:latin typeface="Calibri"/>
                <a:ea typeface="Calibri"/>
                <a:cs typeface="Calibri"/>
              </a:rPr>
              <a:t> центров — при неизменном числе мероприятий и неизменном бюджете. Не «дайте денег», а «используйте то, что уже проводится».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661339"/>
            <a:ext cx="3307994" cy="363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F2EFE8"/>
                </a:solidFill>
                <a:latin typeface="Georgia"/>
                <a:ea typeface="Georgia"/>
                <a:cs typeface="Georgia"/>
              </a:rPr>
              <a:t>Почему числу можно верить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1850" y="4088451"/>
            <a:ext cx="3307994" cy="1070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B4B0A2"/>
                </a:solidFill>
                <a:latin typeface="Calibri"/>
                <a:ea typeface="Calibri"/>
                <a:cs typeface="Calibri"/>
              </a:rPr>
              <a:t>Показан </a:t>
            </a:r>
            <a:r>
              <a:rPr sz="1150" b="1">
                <a:solidFill>
                  <a:srgbClr val="F2EFE8"/>
                </a:solidFill>
                <a:latin typeface="Calibri"/>
                <a:ea typeface="Calibri"/>
                <a:cs typeface="Calibri"/>
              </a:rPr>
              <a:t>подтверждённый</a:t>
            </a:r>
            <a:r>
              <a:rPr sz="1150" b="0">
                <a:solidFill>
                  <a:srgbClr val="B4B0A2"/>
                </a:solidFill>
                <a:latin typeface="Calibri"/>
                <a:ea typeface="Calibri"/>
                <a:cs typeface="Calibri"/>
              </a:rPr>
              <a:t> резерв: из полного вычтены шесть мер по четырём центрам, у которых показатели внутри отчёта противоречат друг другу. Мы сами уменьшили свою цифру.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6772" y="3661339"/>
            <a:ext cx="3307994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B8677"/>
                </a:solidFill>
                <a:latin typeface="Consolas"/>
                <a:ea typeface="Consolas"/>
                <a:cs typeface="Consolas"/>
              </a:rPr>
              <a:t>ПОЛНЫЙ РЕЗЕРВ → ПОДТВЕРЖДЁННЫЙ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6772" y="4054760"/>
            <a:ext cx="2050956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4B0A2"/>
                </a:solidFill>
                <a:latin typeface="Calibri"/>
                <a:ea typeface="Calibri"/>
                <a:cs typeface="Calibri"/>
              </a:rPr>
              <a:t>Платные услуги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6772" y="4054760"/>
            <a:ext cx="3307994" cy="2007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2EFE8"/>
                </a:solidFill>
                <a:latin typeface="Consolas"/>
                <a:ea typeface="Consolas"/>
                <a:cs typeface="Consolas"/>
              </a:rPr>
              <a:t>100%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16772" y="4301229"/>
            <a:ext cx="3307994" cy="77724"/>
          </a:xfrm>
          <a:prstGeom prst="rect">
            <a:avLst/>
          </a:prstGeom>
          <a:solidFill>
            <a:srgbClr val="4C493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16772" y="4301229"/>
            <a:ext cx="3307994" cy="77724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6772" y="4450816"/>
            <a:ext cx="2050956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4B0A2"/>
                </a:solidFill>
                <a:latin typeface="Calibri"/>
                <a:ea typeface="Calibri"/>
                <a:cs typeface="Calibri"/>
              </a:rPr>
              <a:t>Творческие работы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6772" y="4450816"/>
            <a:ext cx="3307994" cy="2007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2EFE8"/>
                </a:solidFill>
                <a:latin typeface="Consolas"/>
                <a:ea typeface="Consolas"/>
                <a:cs typeface="Consolas"/>
              </a:rPr>
              <a:t>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16772" y="4697284"/>
            <a:ext cx="3307994" cy="77724"/>
          </a:xfrm>
          <a:prstGeom prst="rect">
            <a:avLst/>
          </a:prstGeom>
          <a:solidFill>
            <a:srgbClr val="4C493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16772" y="4697284"/>
            <a:ext cx="3307994" cy="77724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16772" y="4846872"/>
            <a:ext cx="2050956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4B0A2"/>
                </a:solidFill>
                <a:latin typeface="Calibri"/>
                <a:ea typeface="Calibri"/>
                <a:cs typeface="Calibri"/>
              </a:rPr>
              <a:t>Мероприятия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6772" y="4846872"/>
            <a:ext cx="3307994" cy="2007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2EFE8"/>
                </a:solidFill>
                <a:latin typeface="Consolas"/>
                <a:ea typeface="Consolas"/>
                <a:cs typeface="Consolas"/>
              </a:rPr>
              <a:t>71%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16772" y="5093340"/>
            <a:ext cx="3307994" cy="77724"/>
          </a:xfrm>
          <a:prstGeom prst="rect">
            <a:avLst/>
          </a:prstGeom>
          <a:solidFill>
            <a:srgbClr val="4C493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16772" y="5093340"/>
            <a:ext cx="2345931" cy="77724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16772" y="5242928"/>
            <a:ext cx="2050956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4B0A2"/>
                </a:solidFill>
                <a:latin typeface="Calibri"/>
                <a:ea typeface="Calibri"/>
                <a:cs typeface="Calibri"/>
              </a:rPr>
              <a:t>Публикации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16772" y="5242928"/>
            <a:ext cx="3307994" cy="2007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2EFE8"/>
                </a:solidFill>
                <a:latin typeface="Consolas"/>
                <a:ea typeface="Consolas"/>
                <a:cs typeface="Consolas"/>
              </a:rPr>
              <a:t>58%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16772" y="5489396"/>
            <a:ext cx="3307994" cy="77724"/>
          </a:xfrm>
          <a:prstGeom prst="rect">
            <a:avLst/>
          </a:prstGeom>
          <a:solidFill>
            <a:srgbClr val="4C493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316772" y="5489396"/>
            <a:ext cx="1906607" cy="77724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16772" y="5638984"/>
            <a:ext cx="2050956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4B0A2"/>
                </a:solidFill>
                <a:latin typeface="Calibri"/>
                <a:ea typeface="Calibri"/>
                <a:cs typeface="Calibri"/>
              </a:rPr>
              <a:t>Участники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6772" y="5638984"/>
            <a:ext cx="3307994" cy="2007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2EFE8"/>
                </a:solidFill>
                <a:latin typeface="Consolas"/>
                <a:ea typeface="Consolas"/>
                <a:cs typeface="Consolas"/>
              </a:rPr>
              <a:t>45%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16772" y="5885452"/>
            <a:ext cx="3307994" cy="77724"/>
          </a:xfrm>
          <a:prstGeom prst="rect">
            <a:avLst/>
          </a:prstGeom>
          <a:solidFill>
            <a:srgbClr val="4C493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316772" y="5885452"/>
            <a:ext cx="1474591" cy="77724"/>
          </a:xfrm>
          <a:prstGeom prst="rect">
            <a:avLst/>
          </a:prstGeom>
          <a:solidFill>
            <a:srgbClr val="F2EF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B8677"/>
                </a:solidFill>
                <a:latin typeface="Consolas"/>
                <a:ea typeface="Consolas"/>
                <a:cs typeface="Consolas"/>
              </a:rPr>
              <a:t>РАЗДЕЛ «РЕКОМЕНДАЦИИ» → СОВОКУПНЫЙ РЕЗЕРВ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B8677"/>
                </a:solidFill>
                <a:latin typeface="Consolas"/>
                <a:ea typeface="Consolas"/>
                <a:cs typeface="Consolas"/>
              </a:rPr>
              <a:t>10 / 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382512"/>
            <a:ext cx="10344607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B8677"/>
                </a:solidFill>
                <a:latin typeface="Consolas"/>
                <a:ea typeface="Consolas"/>
                <a:cs typeface="Consolas"/>
              </a:rPr>
              <a:t>КРИТЕРИЙ 4 · ЭКОНОМИКА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6217920"/>
            <a:ext cx="11057839" cy="6350"/>
          </a:xfrm>
          <a:prstGeom prst="rect">
            <a:avLst/>
          </a:prstGeom>
          <a:solidFill>
            <a:srgbClr val="3B393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66928" y="6217920"/>
            <a:ext cx="7371892" cy="12700"/>
          </a:xfrm>
          <a:prstGeom prst="rect">
            <a:avLst/>
          </a:prstGeom>
          <a:solidFill>
            <a:srgbClr val="8B867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РЫНОК И МОДЕЛЬ · 4:40–5:10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11057839" cy="5737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Единица внедрения — сеть, а не центр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7602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61922"/>
            <a:ext cx="1959864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Резерв на сеть из 20 центров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14749"/>
            <a:ext cx="1959864" cy="550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9,7</a:t>
            </a: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 млн 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02282"/>
            <a:ext cx="1959864" cy="4241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в год, подтверждённая часть, только выручка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7688" y="1661922"/>
            <a:ext cx="1959864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В пересчёте на центр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7688" y="1914749"/>
            <a:ext cx="1959864" cy="550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≈ 0,48</a:t>
            </a: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 млн 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7688" y="2502282"/>
            <a:ext cx="1959864" cy="4241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в год, плюс работы, участники, публикации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8448" y="1661922"/>
            <a:ext cx="1959864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Стоимость эксплуатации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8448" y="1914749"/>
            <a:ext cx="1959864" cy="550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1</a:t>
            </a: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 контейнер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8448" y="2502282"/>
            <a:ext cx="1959864" cy="4241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без внешних лицензий и платных сервисов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072734"/>
            <a:ext cx="6812280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10478"/>
            <a:ext cx="6812280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КОМУ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584798"/>
            <a:ext cx="6812280" cy="553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Тому, кто сводит отчётность нескольких учреждений: учредителю сети, региональному органу управления культурой, вузу-держателю центров. Признак применимости один — те же формы 1 и 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211547"/>
            <a:ext cx="6812280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321275"/>
            <a:ext cx="6812280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ЧТО ПРОДАЁТСЯ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595595"/>
            <a:ext cx="6812280" cy="553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Не экран с графиками, а сокращение цикла «отчёт → решение». Внедрение — разовая настройка на форматы отчётности и развёртывание; дальше подписка на пересчёт, поддержку и новые показатели.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222345"/>
            <a:ext cx="6812280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332073"/>
            <a:ext cx="6812280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ПОЧЕМУ ТИРАЖИРУЕТСЯ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606393"/>
            <a:ext cx="6812280" cy="553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Конвейер читает формы, а не конкретные файлы. Новый центр — ещё один файл в каталоге, а не новая интеграция: стоимость обслуживания сети почти не растёт с числом центров.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36408" y="1661922"/>
            <a:ext cx="3788359" cy="4373118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55864" y="1917954"/>
            <a:ext cx="3349447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ЧЕСТНО ПРО РЫНОК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55864" y="2183358"/>
            <a:ext cx="3349447" cy="81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Объём рынка по открытым источникам мы не считали: в датасете его нет, а выдуманная цифра в семиминутной защите проверяется за полминуты.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55864" y="3214922"/>
            <a:ext cx="3349447" cy="1587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Считаем проверяемое: эффект на сеть, с которой работаем, и стоимость её обслуживания. Эффект линеен по числу </a:t>
            </a: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сетей</a:t>
            </a: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, а не центров — вторая такая же сеть даёт ещё 9,7 млн ₽ при той же стоимости разработки. Сколько таких сетей, знает заказчик; умножается одна и та же величина.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55864" y="4741238"/>
            <a:ext cx="3349447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55864" y="5015558"/>
            <a:ext cx="3349447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Сетей в расчёте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55864" y="5015558"/>
            <a:ext cx="3349447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55864" y="5248705"/>
            <a:ext cx="3349447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55864" y="5326429"/>
            <a:ext cx="3349447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Центров в сети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55864" y="5326429"/>
            <a:ext cx="3349447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55864" y="5559576"/>
            <a:ext cx="3349447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55864" y="5637300"/>
            <a:ext cx="3349447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Годовой резерв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55864" y="5637300"/>
            <a:ext cx="3349447" cy="224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9,7 млн 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ЭКОНОМИКА ВНЕДРЕНИЯ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11 / 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82512"/>
            <a:ext cx="10344607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4 · БИЗНЕС-МОДЕЛЬ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6217920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" y="6217920"/>
            <a:ext cx="8109082" cy="12700"/>
          </a:xfrm>
          <a:prstGeom prst="rect">
            <a:avLst/>
          </a:prstGeom>
          <a:solidFill>
            <a:srgbClr val="84806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ПРОЦЕСС · 5:10–5:35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11057839" cy="5737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Четыре решения, которые определили продукт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7602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42466"/>
            <a:ext cx="2971800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80210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6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1661922"/>
            <a:ext cx="2587752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РАЗБОР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917954"/>
            <a:ext cx="2587752" cy="6713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Сначала журнал, потом цифры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680737"/>
            <a:ext cx="2587752" cy="1070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Двадцать книг с разными шаблонами. Решили: ни одной правки молча — каждая попадает в журнал и видна рядом с числом.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4487" y="1442466"/>
            <a:ext cx="2971800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04487" y="1680210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6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8536" y="1661922"/>
            <a:ext cx="2587752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ПРИЗНАКИ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88536" y="1917954"/>
            <a:ext cx="2587752" cy="6713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Не сравнивать несравнимое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8536" y="2680737"/>
            <a:ext cx="2587752" cy="1070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Доли каналов — состав, а не обычные числа. Решили: CLR-преобразование вместо сырых долей, иначе расстояния считаются неверно.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851940"/>
            <a:ext cx="2971800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007388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6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3989100"/>
            <a:ext cx="2587752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МОДЕЛИ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4245132"/>
            <a:ext cx="2587752" cy="6713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Сначала проверка, потом 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5007915"/>
            <a:ext cx="2587752" cy="1070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На двадцати наблюдениях кластеры выходят всегда. Решили: k по четырём метрикам, разбиение принимается после теста значимости.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04487" y="3851940"/>
            <a:ext cx="2971800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04487" y="4007388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6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8536" y="3989100"/>
            <a:ext cx="2587752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ВИТРИНА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4245132"/>
            <a:ext cx="2587752" cy="6713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Только то, что пришло из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88536" y="5007915"/>
            <a:ext cx="2587752" cy="1070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Первый интерфейс на Vue показывал числа, зашитые в код. Решили: переписать с нуля и удалить всё, чего нет в ответах сервиса.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33488" y="1661922"/>
            <a:ext cx="4291279" cy="4373118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52944" y="1917954"/>
            <a:ext cx="3852367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ЧТО ВЫБРОСИЛИ ПО ДОРОГЕ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52944" y="2183358"/>
            <a:ext cx="3852367" cy="363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Отказ — тоже результат разработки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52944" y="2880218"/>
            <a:ext cx="256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9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08975" y="2848214"/>
            <a:ext cx="3596335" cy="5357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Синтетическая обратная связь и NPS</a:t>
            </a: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— их нет в отчётности, а решать по выдуманному числу нельзя.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2944" y="3702943"/>
            <a:ext cx="256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9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08975" y="3670939"/>
            <a:ext cx="3596335" cy="5357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Симулятор с ползунками</a:t>
            </a: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— умножал уже посчитанные оценки на коэффициенты и выдавал это за эксперимент.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52944" y="4525669"/>
            <a:ext cx="256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9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08975" y="4493665"/>
            <a:ext cx="3596335" cy="5357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Квартальные ряды</a:t>
            </a: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— были записаны прямо в коде интерфейса, в формах их нет.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52944" y="5348394"/>
            <a:ext cx="256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9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08975" y="5316390"/>
            <a:ext cx="3596335" cy="5357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Радар «средней нормы сети»</a:t>
            </a: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— 50 баллов по каждой оси были условным ориентиром, а не расчётом.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ПРОЦЕСС РАЗРАБОТКИ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12 / 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82512"/>
            <a:ext cx="10344607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1 · ПРОРАБОТКА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6217920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" y="6217920"/>
            <a:ext cx="8846271" cy="12700"/>
          </a:xfrm>
          <a:prstGeom prst="rect">
            <a:avLst/>
          </a:prstGeom>
          <a:solidFill>
            <a:srgbClr val="84806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ЧЕСТНОСТЬ ДАННЫХ · 5:35–6:10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11057839" cy="5737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Мы не рисуем то, чего нет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7602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61922"/>
            <a:ext cx="10424160" cy="8495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В задании была обратная связь. В датасете её нет — ни одной строки об удовлетворённости. </a:t>
            </a:r>
            <a:r>
              <a:rPr sz="19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Синтетический NPS генерируется за час, но решать по выдуманным метрикам нельзя.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785789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3078397"/>
            <a:ext cx="5806440" cy="2956642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297853"/>
            <a:ext cx="5367527" cy="363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spc="-3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Что сделано вместо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994713"/>
            <a:ext cx="256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9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3962709"/>
            <a:ext cx="5111495" cy="5357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Наблюдаемые заменители: </a:t>
            </a: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конверсия в готовую работу</a:t>
            </a: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, доля закрепившихся резидентов, внешняя заметность результата.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671554"/>
            <a:ext cx="256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9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" y="4639550"/>
            <a:ext cx="5111495" cy="5357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Отдельная панель </a:t>
            </a:r>
            <a:r>
              <a:rPr sz="11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«Чего в данных нет»</a:t>
            </a: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: перечень недостающих источников и что каждый из них дал бы.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348394"/>
            <a:ext cx="25603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9" b="0" spc="4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" y="5316390"/>
            <a:ext cx="5111495" cy="5357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Показатель без базы 2025 года не получает ни прироста, ни нуля — он помечен как несравнимый.</a:t>
            </a:r>
          </a:p>
        </p:txBody>
      </p:sp>
      <p:pic>
        <p:nvPicPr>
          <p:cNvPr id="15" name="Picture 14" descr="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4808" y="3078397"/>
            <a:ext cx="4717702" cy="2956642"/>
          </a:xfrm>
          <a:prstGeom prst="rect">
            <a:avLst/>
          </a:prstGeom>
          <a:ln w="9525">
            <a:solidFill>
              <a:srgbClr val="D3CCBC"/>
            </a:solidFill>
          </a:ln>
          <a:effectLst/>
        </p:spPr>
      </p:pic>
      <p:sp>
        <p:nvSpPr>
          <p:cNvPr id="16" name="TextBox 15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РАЗДЕЛ «ВОВЛЕЧЁННОСТЬ»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13 /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382512"/>
            <a:ext cx="10344607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1 · ПРОРАБОТКА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217920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6217920"/>
            <a:ext cx="9583460" cy="12700"/>
          </a:xfrm>
          <a:prstGeom prst="rect">
            <a:avLst/>
          </a:prstGeom>
          <a:solidFill>
            <a:srgbClr val="84806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АРХИТЕКТУРА · 6:10–6:30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11057839" cy="5737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Конвейер целиком — 9,6 секунды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7602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61922"/>
            <a:ext cx="2558719" cy="1811511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881378"/>
            <a:ext cx="2119807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19934"/>
            <a:ext cx="2119807" cy="10706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Устойчивый разбор 20 разнородных книг Excel, приведение единиц, журнал каждой правки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9967" y="1661922"/>
            <a:ext cx="2558719" cy="1811511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9423" y="1881378"/>
            <a:ext cx="2119807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МОДЕЛИ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423" y="2219934"/>
            <a:ext cx="2119807" cy="81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CLR-признаки, PCA, k-средние / Уорд / GMM, перестановочный тест, leave-one-out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661922"/>
            <a:ext cx="2558719" cy="1811511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2463" y="1881378"/>
            <a:ext cx="2119807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2463" y="2219934"/>
            <a:ext cx="2119807" cy="81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FastAPI, 14 эндпоинтов, результат конвейера держится в памяти процесса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6047" y="1661922"/>
            <a:ext cx="2558719" cy="1811511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E3DED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5503" y="1881378"/>
            <a:ext cx="2119807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ВИТРИНА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5503" y="2219934"/>
            <a:ext cx="2119807" cy="81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React 19 + TypeScript, графики собственные на SVG, палитра проверена машинно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31899"/>
            <a:ext cx="3320186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Сборка конвейера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284727"/>
            <a:ext cx="3320186" cy="519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0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9,6</a:t>
            </a: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841253"/>
            <a:ext cx="3320186" cy="23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от книги Excel до готовой меры, на сервере демо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2874" y="5031899"/>
            <a:ext cx="3320186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Воспроизводимость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2874" y="5284727"/>
            <a:ext cx="3320186" cy="519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0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100</a:t>
            </a: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2874" y="5841253"/>
            <a:ext cx="3320186" cy="23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фиксированный сид во всех случайных процессах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8820" y="5031899"/>
            <a:ext cx="3320186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Развёрнуто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8820" y="5284727"/>
            <a:ext cx="3320186" cy="519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10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Docker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8820" y="5841253"/>
            <a:ext cx="3320186" cy="23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HTTPS, автопродление сертификата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702715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4086081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6928" y="4035789"/>
            <a:ext cx="100584" cy="100584"/>
          </a:xfrm>
          <a:prstGeom prst="ellipse">
            <a:avLst/>
          </a:prstGeom>
          <a:solidFill>
            <a:srgbClr val="1B1A1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296393"/>
            <a:ext cx="13968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6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01  </a:t>
            </a:r>
            <a:r>
              <a:rPr sz="12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Excel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534137"/>
            <a:ext cx="1396811" cy="23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20 книг</a:t>
            </a:r>
          </a:p>
        </p:txBody>
      </p:sp>
      <p:sp>
        <p:nvSpPr>
          <p:cNvPr id="31" name="Oval 30"/>
          <p:cNvSpPr/>
          <p:nvPr/>
        </p:nvSpPr>
        <p:spPr>
          <a:xfrm>
            <a:off x="2146619" y="4035789"/>
            <a:ext cx="100584" cy="100584"/>
          </a:xfrm>
          <a:prstGeom prst="ellipse">
            <a:avLst/>
          </a:prstGeom>
          <a:solidFill>
            <a:srgbClr val="D3CC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46619" y="4296393"/>
            <a:ext cx="13968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6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02  </a:t>
            </a:r>
            <a:r>
              <a:rPr sz="12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Разбор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46619" y="4534137"/>
            <a:ext cx="1396811" cy="23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единицы, журнал</a:t>
            </a:r>
          </a:p>
        </p:txBody>
      </p:sp>
      <p:sp>
        <p:nvSpPr>
          <p:cNvPr id="34" name="Oval 33"/>
          <p:cNvSpPr/>
          <p:nvPr/>
        </p:nvSpPr>
        <p:spPr>
          <a:xfrm>
            <a:off x="3726310" y="4035789"/>
            <a:ext cx="100584" cy="100584"/>
          </a:xfrm>
          <a:prstGeom prst="ellipse">
            <a:avLst/>
          </a:prstGeom>
          <a:solidFill>
            <a:srgbClr val="D3CC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26310" y="4296393"/>
            <a:ext cx="13968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6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03  </a:t>
            </a:r>
            <a:r>
              <a:rPr sz="12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Признаки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26310" y="4534137"/>
            <a:ext cx="1396811" cy="23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11 на центр</a:t>
            </a:r>
          </a:p>
        </p:txBody>
      </p:sp>
      <p:sp>
        <p:nvSpPr>
          <p:cNvPr id="37" name="Oval 36"/>
          <p:cNvSpPr/>
          <p:nvPr/>
        </p:nvSpPr>
        <p:spPr>
          <a:xfrm>
            <a:off x="5306001" y="4035789"/>
            <a:ext cx="100584" cy="100584"/>
          </a:xfrm>
          <a:prstGeom prst="ellipse">
            <a:avLst/>
          </a:prstGeom>
          <a:solidFill>
            <a:srgbClr val="D3CC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06001" y="4296393"/>
            <a:ext cx="13968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6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04  </a:t>
            </a:r>
            <a:r>
              <a:rPr sz="12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CLR + PCA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6001" y="4534137"/>
            <a:ext cx="1396811" cy="23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5 компонент</a:t>
            </a:r>
          </a:p>
        </p:txBody>
      </p:sp>
      <p:sp>
        <p:nvSpPr>
          <p:cNvPr id="40" name="Oval 39"/>
          <p:cNvSpPr/>
          <p:nvPr/>
        </p:nvSpPr>
        <p:spPr>
          <a:xfrm>
            <a:off x="6885693" y="4035789"/>
            <a:ext cx="100584" cy="100584"/>
          </a:xfrm>
          <a:prstGeom prst="ellipse">
            <a:avLst/>
          </a:prstGeom>
          <a:solidFill>
            <a:srgbClr val="D3CC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85693" y="4296393"/>
            <a:ext cx="13968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6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05  </a:t>
            </a:r>
            <a:r>
              <a:rPr sz="12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Кластеры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85693" y="4534137"/>
            <a:ext cx="1396811" cy="23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k = 5</a:t>
            </a:r>
          </a:p>
        </p:txBody>
      </p:sp>
      <p:sp>
        <p:nvSpPr>
          <p:cNvPr id="43" name="Oval 42"/>
          <p:cNvSpPr/>
          <p:nvPr/>
        </p:nvSpPr>
        <p:spPr>
          <a:xfrm>
            <a:off x="8465384" y="4035789"/>
            <a:ext cx="100584" cy="100584"/>
          </a:xfrm>
          <a:prstGeom prst="ellipse">
            <a:avLst/>
          </a:prstGeom>
          <a:solidFill>
            <a:srgbClr val="D3CC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65384" y="4296393"/>
            <a:ext cx="13968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6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06  </a:t>
            </a:r>
            <a:r>
              <a:rPr sz="12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Проверки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65384" y="4534137"/>
            <a:ext cx="1396811" cy="23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перестановки, LOO</a:t>
            </a:r>
          </a:p>
        </p:txBody>
      </p:sp>
      <p:sp>
        <p:nvSpPr>
          <p:cNvPr id="46" name="Oval 45"/>
          <p:cNvSpPr/>
          <p:nvPr/>
        </p:nvSpPr>
        <p:spPr>
          <a:xfrm>
            <a:off x="10045075" y="4035789"/>
            <a:ext cx="100584" cy="100584"/>
          </a:xfrm>
          <a:prstGeom prst="ellipse">
            <a:avLst/>
          </a:prstGeom>
          <a:solidFill>
            <a:srgbClr val="D3CC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45075" y="4296393"/>
            <a:ext cx="13968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6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07  </a:t>
            </a:r>
            <a:r>
              <a:rPr sz="120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Меры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45075" y="4534137"/>
            <a:ext cx="1396811" cy="2303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50 действий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АРХИТЕКТУРА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14 / 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382512"/>
            <a:ext cx="10344607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1 · ПРОРАБОТКА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6217920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6928" y="6217920"/>
            <a:ext cx="10320649" cy="12700"/>
          </a:xfrm>
          <a:prstGeom prst="rect">
            <a:avLst/>
          </a:prstGeom>
          <a:solidFill>
            <a:srgbClr val="84806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ФИНАЛ · 6:30–7:00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49808"/>
            <a:ext cx="11057839" cy="5737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spc="-60">
                <a:solidFill>
                  <a:srgbClr val="1B1A17"/>
                </a:solidFill>
                <a:latin typeface="Georgia"/>
                <a:ea typeface="Georgia"/>
                <a:cs typeface="Georgia"/>
              </a:rPr>
              <a:t>Готово к внедрению сегодня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87602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61922"/>
            <a:ext cx="5989320" cy="1149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Мы начали с того, что отчётность собирают, а решений по ней не принимают. </a:t>
            </a:r>
            <a:r>
              <a:rPr sz="1650" b="1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Вот пятьдесят решений</a:t>
            </a:r>
            <a:r>
              <a:rPr sz="16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 — с обоснованием, оценкой эффекта и честной пометкой там, где данным нельзя доверять.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03825"/>
            <a:ext cx="5989320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78145"/>
            <a:ext cx="2811779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Новый отчётный период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52465"/>
            <a:ext cx="28117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spc="-30">
                <a:solidFill>
                  <a:srgbClr val="1B1A17"/>
                </a:solidFill>
                <a:latin typeface="Consolas"/>
                <a:ea typeface="Consolas"/>
                <a:cs typeface="Consolas"/>
              </a:rPr>
              <a:t>POST /reload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91377"/>
            <a:ext cx="2811779" cy="4551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положить файлы в каталог — модели пересоберутся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4468" y="3378145"/>
            <a:ext cx="2811779" cy="207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Новый показатель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4468" y="3652465"/>
            <a:ext cx="28117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spc="-30">
                <a:solidFill>
                  <a:srgbClr val="1B1A17"/>
                </a:solidFill>
                <a:latin typeface="Calibri"/>
                <a:ea typeface="Calibri"/>
                <a:cs typeface="Calibri"/>
              </a:rPr>
              <a:t>одна запись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4468" y="4091377"/>
            <a:ext cx="2811779" cy="245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4806F"/>
                </a:solidFill>
                <a:latin typeface="Calibri"/>
                <a:ea typeface="Calibri"/>
                <a:cs typeface="Calibri"/>
              </a:rPr>
              <a:t>в схеме показателей — и он в конвейере</a:t>
            </a:r>
          </a:p>
        </p:txBody>
      </p:sp>
      <p:pic>
        <p:nvPicPr>
          <p:cNvPr id="13" name="Picture 12" descr="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438" y="1661922"/>
            <a:ext cx="3845329" cy="2928365"/>
          </a:xfrm>
          <a:prstGeom prst="rect">
            <a:avLst/>
          </a:prstGeom>
          <a:ln w="9525">
            <a:solidFill>
              <a:srgbClr val="D3CCBC"/>
            </a:solidFill>
          </a:ln>
          <a:effectLst/>
        </p:spPr>
      </p:pic>
      <p:sp>
        <p:nvSpPr>
          <p:cNvPr id="14" name="Rounded Rectangle 13"/>
          <p:cNvSpPr/>
          <p:nvPr/>
        </p:nvSpPr>
        <p:spPr>
          <a:xfrm>
            <a:off x="566928" y="4974336"/>
            <a:ext cx="11057839" cy="1060704"/>
          </a:xfrm>
          <a:prstGeom prst="roundRect">
            <a:avLst>
              <a:gd name="adj" fmla="val 3500"/>
            </a:avLst>
          </a:prstGeom>
          <a:solidFill>
            <a:srgbClr val="FCFAF6"/>
          </a:solidFill>
          <a:ln w="9525">
            <a:solidFill>
              <a:srgbClr val="D3CCB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193792"/>
            <a:ext cx="4206240" cy="1922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12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ДЕМО · ОТКРЫТО ПРЯМО СЕЙЧАС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449823"/>
            <a:ext cx="6400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spc="-20">
                <a:solidFill>
                  <a:srgbClr val="1B1A17"/>
                </a:solidFill>
                <a:latin typeface="Consolas"/>
                <a:ea typeface="Consolas"/>
                <a:cs typeface="Consolas"/>
              </a:rPr>
              <a:t>vitaliysoftware.duckdns.org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5255091"/>
            <a:ext cx="3669487" cy="5357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6534A"/>
                </a:solidFill>
                <a:latin typeface="Calibri"/>
                <a:ea typeface="Calibri"/>
                <a:cs typeface="Calibri"/>
              </a:rPr>
              <a:t>Можно открыть с телефона, пока мы говорим. Развёрнуто в Docker, работает по HTTPS.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VITALIY SOFTWARE SOLUTIONS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382512"/>
            <a:ext cx="11057839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15 / 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82512"/>
            <a:ext cx="10344607" cy="1792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spc="80">
                <a:solidFill>
                  <a:srgbClr val="84806F"/>
                </a:solidFill>
                <a:latin typeface="Consolas"/>
                <a:ea typeface="Consolas"/>
                <a:cs typeface="Consolas"/>
              </a:rPr>
              <a:t>КРИТЕРИЙ 5 · ПРЕЗЕНТАЦИЯ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217920"/>
            <a:ext cx="11057839" cy="6350"/>
          </a:xfrm>
          <a:prstGeom prst="rect">
            <a:avLst/>
          </a:prstGeom>
          <a:solidFill>
            <a:srgbClr val="E3DE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6217920"/>
            <a:ext cx="11057839" cy="12700"/>
          </a:xfrm>
          <a:prstGeom prst="rect">
            <a:avLst/>
          </a:prstGeom>
          <a:solidFill>
            <a:srgbClr val="84806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