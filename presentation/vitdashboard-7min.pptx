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начинаем отсчёт: слайд стоит на экране, пока нас представляют. Открыть демо в соседней вкладке заранее.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A1. Заход. Утверждение: отчётность есть, управления по ней нет. Не торопиться — это рамка всего выступления. Закончить фразой «мы превращаем эту отчётность в действия».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A2. Проблема доказывается самим датасетом. Назвать три числа: 26 правок, 17 противоречий, 13 центров с пометками. Ключевая фраза: «мы не чинили данные молча — каждая правка записана».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Короткий переход. Показать обзор. Одна мысль: двадцать книг Excel сведены в один экран, и каждое число кликабельно до исходной строки отчёта.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B1, первая половина. Главная мысль: кластеризуем не посетителей — их персональных данных нет и быть не должно, — а аудиторные модели центров. Сравнивать можно только с равными.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B1, вторая половина. Назвать модели вслух, показать карту. Подчеркнуть: имена не придуманы вручную — они собираются из признаков, наиболее отличающих группу.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B2. Самый сильный слайд по критерию 1. Логика: на двадцати наблюдениях кластеры можно получить всегда — поэтому мы проверили, что они не случайны. Назвать p = 0,0005 и ARI 0,982. Если горит время — оставить только p-value.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C, первая половина. Показать, что рекомендация — не «совет вообще», а разрыв с медианой сопоставимых центров, переведённый в натуральную величину.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C, вторая половина. Показать очередь мер на экране. Одна фраза: «пятьдесят адресных действий, у каждого — обоснование, эффект и уровень доверия».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D. Ключевой слайд по критерию 4. Обязательно проговорить: резерв считается при НЕИЗМЕННОМ числе мероприятий — это не «дайте денег», а «используйте то, что уже есть». И назвать разницу полного и подтверждённого резерва: мы сами вычли шесть мер по четырём центрам.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E. Отличает нас от типового дашборда. Сказать прямо: в задании была обратная связь, в датасете её нет, синтетику мы рисовать не стали. Показать панель «Чего в данных нет».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Быстрый слайд. Не зачитывать таблицу — назвать два факта: конвейер целиком пересчитывается за 6,3 секунды и всё воспроизводится с фиксированным сидом.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F. Закрыть кругом: начали с «решений по отчётности не принимают» — заканчиваем «вот пятьдесят решений». Назвать ссылку и остановиться. Не добавлять новых фактов.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VITALIY SOFTWARE SOLUTIONS · ХАКАТОН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350" b="1" spc="-11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ВитДашборд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82496"/>
            <a:ext cx="761980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Аналитическая платформа сети центров прототипирования и творческих инкубаторов при вузах культуры: динамика показателей, кластеризация аудиторных моделей и адресные рекомендации по программированию.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34256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spc="50">
                <a:solidFill>
                  <a:srgbClr val="56534A"/>
                </a:solidFill>
                <a:latin typeface="Consolas"/>
                <a:ea typeface="Consolas"/>
                <a:cs typeface="Consolas"/>
              </a:rPr>
              <a:t>DATASET · 20 книг Excel</a:t>
            </a:r>
            <a:r>
              <a:rPr sz="975" b="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   →   </a:t>
            </a:r>
            <a:r>
              <a:rPr sz="975" b="0" spc="50">
                <a:solidFill>
                  <a:srgbClr val="56534A"/>
                </a:solidFill>
                <a:latin typeface="Consolas"/>
                <a:ea typeface="Consolas"/>
                <a:cs typeface="Consolas"/>
              </a:rPr>
              <a:t>разбор Форм 1 и 2</a:t>
            </a:r>
            <a:r>
              <a:rPr sz="975" b="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   →   </a:t>
            </a:r>
            <a:r>
              <a:rPr sz="975" b="0" spc="50">
                <a:solidFill>
                  <a:srgbClr val="56534A"/>
                </a:solidFill>
                <a:latin typeface="Consolas"/>
                <a:ea typeface="Consolas"/>
                <a:cs typeface="Consolas"/>
              </a:rPr>
              <a:t>11 признаков</a:t>
            </a:r>
            <a:r>
              <a:rPr sz="975" b="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   →   </a:t>
            </a:r>
            <a:r>
              <a:rPr sz="975" b="0" spc="50">
                <a:solidFill>
                  <a:srgbClr val="56534A"/>
                </a:solidFill>
                <a:latin typeface="Consolas"/>
                <a:ea typeface="Consolas"/>
                <a:cs typeface="Consolas"/>
              </a:rPr>
              <a:t>5 моделей</a:t>
            </a:r>
            <a:r>
              <a:rPr sz="975" b="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   →   </a:t>
            </a:r>
            <a:r>
              <a:rPr sz="975" b="0" spc="50">
                <a:solidFill>
                  <a:srgbClr val="56534A"/>
                </a:solidFill>
                <a:latin typeface="Consolas"/>
                <a:ea typeface="Consolas"/>
                <a:cs typeface="Consolas"/>
              </a:rPr>
              <a:t>50 действий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482803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5138928"/>
            <a:ext cx="25815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Центров в сети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358384"/>
            <a:ext cx="258157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1387" y="5138928"/>
            <a:ext cx="25815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Аудиторных моделей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1387" y="5358384"/>
            <a:ext cx="258157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5138928"/>
            <a:ext cx="25815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Адресных мер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5358384"/>
            <a:ext cx="258157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0307" y="5138928"/>
            <a:ext cx="25815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Резерв выручки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307" y="5358384"/>
            <a:ext cx="258157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9,7</a:t>
            </a:r>
            <a:r>
              <a:rPr sz="1125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млн 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VITALIYSOFTWARE.DUCKDNS.ORG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ЗАЩИТА · 7 МИНУТ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ПРОБЛЕМА · 0:00–0:25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Отчётность сдают. Решений по ней не принимают.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43029"/>
            <a:ext cx="3503066" cy="1874519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725909"/>
            <a:ext cx="310073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Двадцать шаблонов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123409"/>
            <a:ext cx="310073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Каждый центр заполняет формы по-своему: где-то тысячи рублей подписаны рублями, где-то итог не сходится с подпунктами. Свести их вручную — работа на неделю.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1543029"/>
            <a:ext cx="3503066" cy="1874519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5482" y="1725909"/>
            <a:ext cx="310073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Сравнивать не с чем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5482" y="2123409"/>
            <a:ext cx="310073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Консерватория и центр цифрового контента работают с разной аудиторией. Сравнение «всех со всеми» даёт рейтинг, а не управленческий вывод.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1700" y="1543029"/>
            <a:ext cx="3503066" cy="1874519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2868" y="1725909"/>
            <a:ext cx="310073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Видно только постфактум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2868" y="2444711"/>
            <a:ext cx="310073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 декабрю выясняется, что часть центров не вышла на план. В сентябре это уже видно в цифрах — но никто их не сводит.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783309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993621"/>
            <a:ext cx="838179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7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Мы сделали платформу, которая превращает эту отчётность в конкретные управленческие действия.</a:t>
            </a:r>
            <a:r>
              <a:rPr sz="15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Она развёрнута, работает и открыта по ссылке.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ВИТДАШБОРД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2 · АКТУАЛЬНОСТЬ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АКТУАЛЬНОСТЬ · 0:25–1:10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Проблема видна в самом датасете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43029"/>
            <a:ext cx="20443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Правок при разборе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62485"/>
            <a:ext cx="2044391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99101"/>
            <a:ext cx="204439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единицы, пустые строки, расхождения итогов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57623" y="1543029"/>
            <a:ext cx="20443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Противоречий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57623" y="1762485"/>
            <a:ext cx="2044391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57623" y="2199101"/>
            <a:ext cx="204439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показатели не сходятся между формами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8318" y="1543029"/>
            <a:ext cx="20443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Центров с пометками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48318" y="1762485"/>
            <a:ext cx="2044391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13</a:t>
            </a:r>
            <a:r>
              <a:rPr sz="1125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из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8318" y="2199101"/>
            <a:ext cx="204439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у четырёх вклад в резерв не засчитан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914629"/>
            <a:ext cx="6572085" cy="242316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115797"/>
            <a:ext cx="61331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Три примера из журнала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32347"/>
            <a:ext cx="23774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276" y="3513297"/>
            <a:ext cx="583828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Строка подписана «тыс. рублей», но перевод даёт величину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в 475 раз выше медианы сети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подпись признана ошибочной, значение оставлено в рублях.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014300"/>
            <a:ext cx="23774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276" y="3995250"/>
            <a:ext cx="583828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Разработано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69 форматов при 21 обученном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: меньше одного участника на мероприятие — вероятна ошибка в строках 3.1–3.4 Формы 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496253"/>
            <a:ext cx="23774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276" y="4477203"/>
            <a:ext cx="583828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Резидентов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131 при 58 обученных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показатели ведутся по разным контурам, сравнение по ним недостоверно.</a:t>
            </a:r>
          </a:p>
        </p:txBody>
      </p:sp>
      <p:pic>
        <p:nvPicPr>
          <p:cNvPr id="22" name="Picture 21" descr="quality.png"/>
          <p:cNvPicPr>
            <a:picLocks noChangeAspect="1"/>
          </p:cNvPicPr>
          <p:nvPr/>
        </p:nvPicPr>
        <p:blipFill>
          <a:blip r:embed="rId3"/>
          <a:srcRect r="16765"/>
          <a:stretch>
            <a:fillRect/>
          </a:stretch>
        </p:blipFill>
        <p:spPr>
          <a:xfrm>
            <a:off x="7413333" y="1543029"/>
            <a:ext cx="4211433" cy="3794760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23" name="TextBox 22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«КАЧЕСТВО ДАННЫХ»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2 · АКТУАЛЬНОСТЬ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Двадцать книг Excel — один экран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3"/>
          <a:srcRect b="27594"/>
          <a:stretch>
            <a:fillRect/>
          </a:stretch>
        </p:blipFill>
        <p:spPr>
          <a:xfrm>
            <a:off x="566928" y="1543029"/>
            <a:ext cx="6667333" cy="3611880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7563445" y="1653519"/>
            <a:ext cx="2011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1761" y="1634469"/>
            <a:ext cx="38030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4 193 участника</a:t>
            </a:r>
            <a:r>
              <a:rPr sz="12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за девять отчётных месяцев, 307 мероприятий, 2 074 готовые работы, 25,0 млн ₽ платных услуг.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3445" y="2485221"/>
            <a:ext cx="2011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21761" y="2466171"/>
            <a:ext cx="38030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7 центров</a:t>
            </a:r>
            <a:r>
              <a:rPr sz="12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при текущем темпе не выходят на годовую цель — это видно в сентябре, а не в декабре.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3445" y="3316923"/>
            <a:ext cx="2011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21761" y="3297874"/>
            <a:ext cx="38030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Любое число раскрывается до карточки центра, исходного файла и строки формы.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63445" y="4043856"/>
            <a:ext cx="4061321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3445" y="4226736"/>
            <a:ext cx="406132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Семь разделов: обзор, динамика, вовлечённость, кластеры, организации, рекомендации, качество данных.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«ОБЗОР»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КЛАСТЕРИЗАЦИЯ · 1:10–2:10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Сравнивать можно только с равными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43029"/>
            <a:ext cx="5373471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Персональных данных посетителей в отчётности нет и быть не должно. Зато у каждого центра есть </a:t>
            </a:r>
            <a:r>
              <a:rPr sz="157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профиль аудитории</a:t>
            </a:r>
            <a:r>
              <a:rPr sz="15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и его можно кластеризовать.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713461"/>
            <a:ext cx="5373471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14629"/>
            <a:ext cx="25678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СОСТАВ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134085"/>
            <a:ext cx="25678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Доли четырёх каналов обучения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2535" y="2914629"/>
            <a:ext cx="25678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МАСШТАБ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2535" y="3134085"/>
            <a:ext cx="25678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Размер аудитории и линейки форматов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01013"/>
            <a:ext cx="25678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ГЛУБИНА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920469"/>
            <a:ext cx="25678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Наполняемость и доля резидентов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2535" y="3701013"/>
            <a:ext cx="25678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ОТДАЧА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2535" y="3920469"/>
            <a:ext cx="25678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Продукты, выручка, публичность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1295" y="1543029"/>
            <a:ext cx="5373471" cy="324612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0751" y="1762485"/>
            <a:ext cx="49345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Одна техническая деталь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159985"/>
            <a:ext cx="49345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Доли каналов —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композиционные данные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: они лежат на симплексе, сумма всегда равна единице. Признаки линейно зависимы, и обычная стандартизация для них некорректна — евклидово расстояние искажает близость.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3091127"/>
            <a:ext cx="49345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Применено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центрированное логарифмическое преобразование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с мультипликативной заменой нулей — стандартная практика для составов.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0751" y="3914087"/>
            <a:ext cx="493455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4060391"/>
            <a:ext cx="4934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Признаков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4060391"/>
            <a:ext cx="4934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0751" y="4227271"/>
            <a:ext cx="493455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0751" y="4284419"/>
            <a:ext cx="4934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Наблюдений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0751" y="4284419"/>
            <a:ext cx="4934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0751" y="4451299"/>
            <a:ext cx="493455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0751" y="4508447"/>
            <a:ext cx="4934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Компонент после сжатия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0751" y="4508447"/>
            <a:ext cx="4934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5 · 90 % разброса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ПРИЗНАКОВОЕ ПРОСТРАНСТВО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ПЯТЬ АУДИТОРНЫХ МОДЕЛЕЙ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Что сеть делает на самом деле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clusters.png"/>
          <p:cNvPicPr>
            <a:picLocks noChangeAspect="1"/>
          </p:cNvPicPr>
          <p:nvPr/>
        </p:nvPicPr>
        <p:blipFill>
          <a:blip r:embed="rId3"/>
          <a:srcRect b="34399"/>
          <a:stretch>
            <a:fillRect/>
          </a:stretch>
        </p:blipFill>
        <p:spPr>
          <a:xfrm>
            <a:off x="566928" y="1543029"/>
            <a:ext cx="6572085" cy="3611880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7431621" y="1543029"/>
            <a:ext cx="4193145" cy="68580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614501" y="1716765"/>
            <a:ext cx="91440" cy="91440"/>
          </a:xfrm>
          <a:prstGeom prst="ellipse">
            <a:avLst/>
          </a:prstGeom>
          <a:solidFill>
            <a:srgbClr val="2B64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9093" y="1661901"/>
            <a:ext cx="366279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Массовые просветители ·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4501" y="1908789"/>
            <a:ext cx="382738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Массовый охват и широкая линейка форматов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31621" y="2320269"/>
            <a:ext cx="4193145" cy="68580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4501" y="2494005"/>
            <a:ext cx="91440" cy="91440"/>
          </a:xfrm>
          <a:prstGeom prst="ellipse">
            <a:avLst/>
          </a:prstGeom>
          <a:solidFill>
            <a:srgbClr val="A76C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9093" y="2439141"/>
            <a:ext cx="366279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Медийные площадки ·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4501" y="2686029"/>
            <a:ext cx="382738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Заметность в медиа при камерном формате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31621" y="3097509"/>
            <a:ext cx="4193145" cy="68580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14501" y="3271245"/>
            <a:ext cx="91440" cy="91440"/>
          </a:xfrm>
          <a:prstGeom prst="ellipse">
            <a:avLst/>
          </a:prstGeom>
          <a:solidFill>
            <a:srgbClr val="AA513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9093" y="3216381"/>
            <a:ext cx="366279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Продуктовые мастерские ·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4501" y="3463269"/>
            <a:ext cx="382738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Сильное ядро резидентов, высокая отдача в продуктах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31621" y="3874749"/>
            <a:ext cx="4193145" cy="68580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14501" y="4048485"/>
            <a:ext cx="91440" cy="91440"/>
          </a:xfrm>
          <a:prstGeom prst="ellipse">
            <a:avLst/>
          </a:prstGeom>
          <a:solidFill>
            <a:srgbClr val="9E962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9093" y="3993621"/>
            <a:ext cx="366279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Открытые бесплатные площадки ·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4501" y="4240509"/>
            <a:ext cx="382738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Бесплатная модель, крупные потоки, узкая линейка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31621" y="4651989"/>
            <a:ext cx="4193145" cy="68580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14501" y="4825725"/>
            <a:ext cx="91440" cy="91440"/>
          </a:xfrm>
          <a:prstGeom prst="ellipse">
            <a:avLst/>
          </a:prstGeom>
          <a:solidFill>
            <a:srgbClr val="078E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9093" y="4770861"/>
            <a:ext cx="366279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Профессиональные академии 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4501" y="5017749"/>
            <a:ext cx="382738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Ставка на повышение квалификации и мастер-классы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«КЛАСТЕРЫ»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ДОКАЗАТЕЛЬСТВО · 2:10–3:10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На двадцати наблюдениях кластеры получаются всегда. Мы проверили, что эти — настоящие.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624561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872205"/>
            <a:ext cx="3515258" cy="2761488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073373"/>
            <a:ext cx="311292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ПЕРЕСТАНОВОЧНЫЙ ТЕСТ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292829"/>
            <a:ext cx="311292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Структура не случайна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690329"/>
            <a:ext cx="311292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Признаки перемешиваются внутри столбцов, кластеризация повторяется — так получается, какой силуэт даёт чистый шум.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" y="3363159"/>
            <a:ext cx="3112922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491175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Наблюдаемый силуэт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491175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0,326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" y="3648911"/>
            <a:ext cx="3112922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706059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p-значение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06059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0,0005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3863795"/>
            <a:ext cx="3112922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920943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Размер эффекта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920943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9,4 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8218" y="1872205"/>
            <a:ext cx="3515258" cy="2761488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9386" y="2073373"/>
            <a:ext cx="311292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ИСКЛЮЧЕНИЕ ПО ОДНОМУ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9386" y="2292829"/>
            <a:ext cx="311292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Разбиение не держится на одном центре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9386" y="3011631"/>
            <a:ext cx="311292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Каждый центр по очереди убирается, модель пересобирается, результат сравнивается по индексу Рэнда.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9386" y="3684461"/>
            <a:ext cx="3112922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9386" y="3812477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Средний ARI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9386" y="3812477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0,982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9386" y="3970213"/>
            <a:ext cx="3112922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9386" y="4027361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Худший прогон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9386" y="4027361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0,849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9386" y="4185097"/>
            <a:ext cx="3112922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39386" y="4242245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Сменили кластер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9386" y="4242245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 центров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872205"/>
            <a:ext cx="3515258" cy="2761488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0676" y="2073373"/>
            <a:ext cx="311292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СОГЛАСИЕ АЛГОРИТМОВ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0676" y="2292829"/>
            <a:ext cx="311292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Три метода дают одно и то же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0676" y="3011631"/>
            <a:ext cx="311292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Разные семейства сходятся на близком разбиении — значит, дело в данных, а не в выбранном методе.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10676" y="3684461"/>
            <a:ext cx="3112922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0676" y="3812477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k-средние ~ Уорд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0676" y="3812477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10676" y="3970213"/>
            <a:ext cx="3112922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0676" y="4027361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GMM ~ k-средние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0676" y="4027361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0,757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10676" y="4185097"/>
            <a:ext cx="3112922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10676" y="4242245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Устойчивость мер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0676" y="4242245"/>
            <a:ext cx="3112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96 %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484400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5017741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Число кластеров тоже не назначено рукой: перебор k от 2 до 5 по четырём метрикам сразу — силуэт, стабильность на бутстрапе, баланс размеров и индекс Дэвиса—Болдина. Сводный балл у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k = 5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0,976 против 0,592 у ближайшего.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«КЛАСТЕРЫ» → ПРОВЕРКИ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РЕКОМЕНДАЦИИ · 3:10–4:10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Не совет, а посчитанный разрыв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35231"/>
            <a:ext cx="23774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1820" y="1616181"/>
            <a:ext cx="59914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Центр сравнивается с </a:t>
            </a:r>
            <a:r>
              <a:rPr sz="127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медианой своей аудиторной модели</a:t>
            </a:r>
            <a:r>
              <a:rPr sz="12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. Если в модели меньше пяти центров — со всей сетью; круг сравнения указан в каждой мере.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47883"/>
            <a:ext cx="23774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1820" y="2428834"/>
            <a:ext cx="59914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Разрыв переводится в натуральную величину: участники, работы, рубли, публикации.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46800"/>
            <a:ext cx="23774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820" y="3027751"/>
            <a:ext cx="59914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Приоритет складывается из размера разрыва, доли затронутой аудитории и </a:t>
            </a:r>
            <a:r>
              <a:rPr sz="127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надёжности исходных данных</a:t>
            </a:r>
            <a:r>
              <a:rPr sz="12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645717"/>
            <a:ext cx="23774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820" y="3626668"/>
            <a:ext cx="59914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Мера пересобирается на возмущённых данных — </a:t>
            </a:r>
            <a:r>
              <a:rPr sz="127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20 прогонов</a:t>
            </a:r>
            <a:r>
              <a:rPr sz="12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, чтобы отсеять артефакты одной выборки.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64166" y="1543029"/>
            <a:ext cx="4460600" cy="3584448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3622" y="1762485"/>
            <a:ext cx="40216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ПРИМЕР МЕРЫ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3622" y="1981941"/>
            <a:ext cx="40216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Поднять наполняемость «Мастер-классы»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3622" y="2700743"/>
            <a:ext cx="40216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 «Мастер-классы» приходит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0,3 чел.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на мероприятие при медиане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13,8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в своей модели — это нижний квартиль. Мероприятия уже проводятся (68 шт.), значит резерв закрывается работой с набором, а не новой программой.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3622" y="3813617"/>
            <a:ext cx="402168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83622" y="3941633"/>
            <a:ext cx="4021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Приоритет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3622" y="3941633"/>
            <a:ext cx="4021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100 из 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3622" y="4108513"/>
            <a:ext cx="402168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3622" y="4165661"/>
            <a:ext cx="4021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Оценка эффекта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3622" y="4165661"/>
            <a:ext cx="4021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+914 чел.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83622" y="4332541"/>
            <a:ext cx="402168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83622" y="4389689"/>
            <a:ext cx="4021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Лучший в группе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3622" y="4389689"/>
            <a:ext cx="4021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ОГИК · 130,2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3622" y="4705157"/>
            <a:ext cx="1691640" cy="237744"/>
          </a:xfrm>
          <a:prstGeom prst="roundRect">
            <a:avLst>
              <a:gd name="adj" fmla="val 16000"/>
            </a:avLst>
          </a:prstGeom>
          <a:solidFill>
            <a:srgbClr val="F7F1E4"/>
          </a:solidFill>
          <a:ln w="9525">
            <a:solidFill>
              <a:srgbClr val="DCCBA6"/>
            </a:solidFill>
          </a:ln>
          <a:effectLst/>
        </p:spPr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8760A"/>
                </a:solidFill>
                <a:latin typeface="Calibri"/>
                <a:ea typeface="Calibri"/>
                <a:cs typeface="Calibri"/>
              </a:rPr>
              <a:t>данные под вопросом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«РЕКОМЕНДАЦИИ»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3 · ВОСТРЕБОВАННОСТЬ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ПЯТЬДЕСЯТ АДРЕСНЫХ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Очередь мер с доказательной базой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recs.png"/>
          <p:cNvPicPr>
            <a:picLocks noChangeAspect="1"/>
          </p:cNvPicPr>
          <p:nvPr/>
        </p:nvPicPr>
        <p:blipFill>
          <a:blip r:embed="rId3"/>
          <a:srcRect b="24110"/>
          <a:stretch>
            <a:fillRect/>
          </a:stretch>
        </p:blipFill>
        <p:spPr>
          <a:xfrm>
            <a:off x="566928" y="1543029"/>
            <a:ext cx="6667333" cy="3611880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7563445" y="1817349"/>
            <a:ext cx="4061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Мер в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3445" y="2036805"/>
            <a:ext cx="4061321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3445" y="2473421"/>
            <a:ext cx="4061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по семи типам, средний приоритет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63445" y="2951205"/>
            <a:ext cx="4061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Устойчивы к возмущению данных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3445" y="3170661"/>
            <a:ext cx="4061321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96</a:t>
            </a:r>
            <a:r>
              <a:rPr sz="1125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63445" y="3607277"/>
            <a:ext cx="4061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20 прогонов, средняя выживаемость 98 %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63445" y="4085061"/>
            <a:ext cx="4061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Центров охвачено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3445" y="4304517"/>
            <a:ext cx="4061321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20</a:t>
            </a:r>
            <a:r>
              <a:rPr sz="1125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из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3445" y="4741133"/>
            <a:ext cx="4061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у каждого — своя очередь действий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«РЕКОМЕНДАЦИИ»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3 · ВОСТРЕБОВАННОСТЬ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ЭКОНОМИКА · 4:10–5:10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Резерв закрывается без роста бюджета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817349"/>
            <a:ext cx="2010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Платные услуги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36805"/>
            <a:ext cx="2010399" cy="530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+9,7</a:t>
            </a:r>
            <a:r>
              <a:rPr sz="1125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млн 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80099"/>
            <a:ext cx="201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9 центров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8495" y="1817349"/>
            <a:ext cx="2010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Творческие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8495" y="2036805"/>
            <a:ext cx="2010399" cy="530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+1 411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8495" y="2580099"/>
            <a:ext cx="201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8 центров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0063" y="1817349"/>
            <a:ext cx="2010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Участники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0063" y="2036805"/>
            <a:ext cx="2010399" cy="530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+753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0063" y="2580099"/>
            <a:ext cx="201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13 центров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1817349"/>
            <a:ext cx="2010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Публикации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1631" y="2036805"/>
            <a:ext cx="2010399" cy="530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+317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2580099"/>
            <a:ext cx="201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8 центров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3199" y="1817349"/>
            <a:ext cx="2010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Мероприятия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3199" y="2036805"/>
            <a:ext cx="2010399" cy="530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+81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3199" y="2580099"/>
            <a:ext cx="2010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6 центров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54709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783309"/>
            <a:ext cx="53003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Откуда берётся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180809"/>
            <a:ext cx="530031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Это разрыв между центром и медианой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сопоставимых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центров — при неизменном числе мероприятий и неизменном бюджете. Не «дайте денег», а «используйте то, что уже проводится».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3783309"/>
            <a:ext cx="53003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Почему числу можно верить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4180809"/>
            <a:ext cx="530031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Показан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подтверждённый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резерв. Полный — 9,67 млн ₽ выручки и 1 690 участников; из него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вычтены шесть мер по четырём центрам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, у которых показатели внутри отчёта противоречат друг другу. Мы сами уменьшили свою цифру, а не защищаем максимальную.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«РЕКОМЕНДАЦИИ» → СОВОКУПНЫЙ РЕЗЕРВ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4 · ЭКОНОМИКА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ЧЕСТНОСТЬ ДАННЫХ · 5:10–6:10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Мы не рисуем то, чего нет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43029"/>
            <a:ext cx="628634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В задании была обратная связь. В датасете её нет — ни одной строки об удовлетворённости, ни одного отзыва. </a:t>
            </a:r>
            <a:r>
              <a:rPr sz="157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Синтетический NPS генерируется за час, но дашборд из выдуманных метрик не годится для решений.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3079221"/>
            <a:ext cx="6286342" cy="210312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3280389"/>
            <a:ext cx="584743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Что сделано вместо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696939"/>
            <a:ext cx="2011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4700" y="3677889"/>
            <a:ext cx="55891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Наблюдаемые заменители: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конверсия в готовую работу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, доля закрепившихся резидентов, внешняя заметность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188417"/>
            <a:ext cx="2011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700" y="4169367"/>
            <a:ext cx="55891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Отдельная панель </a:t>
            </a:r>
            <a:r>
              <a:rPr sz="112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«Чего в данных нет»</a:t>
            </a: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: перечень недостающих источников и что каждый из них дал бы.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4679894"/>
            <a:ext cx="2011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4700" y="4660845"/>
            <a:ext cx="55891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Показатель без базы 2025 года не получает ни прироста, ни нуля — он помечен как несравнимый.</a:t>
            </a:r>
          </a:p>
        </p:txBody>
      </p:sp>
      <p:pic>
        <p:nvPicPr>
          <p:cNvPr id="14" name="Picture 13" descr="eng.png"/>
          <p:cNvPicPr>
            <a:picLocks noChangeAspect="1"/>
          </p:cNvPicPr>
          <p:nvPr/>
        </p:nvPicPr>
        <p:blipFill>
          <a:blip r:embed="rId3"/>
          <a:srcRect r="5804"/>
          <a:stretch>
            <a:fillRect/>
          </a:stretch>
        </p:blipFill>
        <p:spPr>
          <a:xfrm>
            <a:off x="7145878" y="1543029"/>
            <a:ext cx="4478888" cy="3566160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«ВОВЛЕЧЁННОСТЬ»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КАК ЭТО УСТРОЕНО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Конвейер целиком — 6,3 секунды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725909"/>
            <a:ext cx="2586151" cy="141732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927077"/>
            <a:ext cx="21838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183109"/>
            <a:ext cx="21838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Устойчивый разбор 20 разнородных книг Excel, приведение единиц, журнал каждой правки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0823" y="1725909"/>
            <a:ext cx="2586151" cy="141732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1991" y="1927077"/>
            <a:ext cx="21838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МОДЕЛИ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1991" y="2183109"/>
            <a:ext cx="21838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CLR-признаки, PCA, k-средние / Уорд / GMM, перестановочный тест, leave-one-out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4719" y="1725909"/>
            <a:ext cx="2586151" cy="141732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927077"/>
            <a:ext cx="21838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5887" y="2183109"/>
            <a:ext cx="21838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FastAPI, 14 эндпоинтов, результат конвейера держится в памяти процесса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38615" y="1725909"/>
            <a:ext cx="2586151" cy="141732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783" y="1927077"/>
            <a:ext cx="21838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ВИТРИНА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783" y="2183109"/>
            <a:ext cx="21838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React 19 + TypeScript, графики собственные на SVG, палитра проверена машинно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63269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91869"/>
            <a:ext cx="341162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Сборка конвейера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911325"/>
            <a:ext cx="3411626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6,3</a:t>
            </a:r>
            <a:r>
              <a:rPr sz="1125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47941"/>
            <a:ext cx="341162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от Excel до рекомендаций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2874" y="3691869"/>
            <a:ext cx="341162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Воспроизводимость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2874" y="3911325"/>
            <a:ext cx="3411626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100</a:t>
            </a:r>
            <a:r>
              <a:rPr sz="1125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2874" y="4347941"/>
            <a:ext cx="341162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фиксированный сид во всех случайных процессах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8820" y="3691869"/>
            <a:ext cx="341162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Развёрнуто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8820" y="3911325"/>
            <a:ext cx="3411626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2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Docker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8820" y="4347941"/>
            <a:ext cx="341162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HTTPS, автопродление сертификата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АРХИТЕКТУРА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ФИНАЛ · 6:10–7:00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Готово к внедрению сегодня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538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43029"/>
            <a:ext cx="657208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Мы начали с того, что отчётность собирают, а решений по ней не принимают. </a:t>
            </a:r>
            <a:r>
              <a:rPr sz="1575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Вот пятьдесят решений</a:t>
            </a:r>
            <a:r>
              <a:rPr sz="15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с обоснованием, оценкой эффекта и честной пометкой там, где данным нельзя доверять.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932917"/>
            <a:ext cx="657208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170661"/>
            <a:ext cx="312145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Новый отчётный период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44981"/>
            <a:ext cx="312145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spc="-30">
                <a:solidFill>
                  <a:srgbClr val="1B1A17"/>
                </a:solidFill>
                <a:latin typeface="Consolas"/>
                <a:ea typeface="Consolas"/>
                <a:cs typeface="Consolas"/>
              </a:rPr>
              <a:t>POST /reload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7317"/>
            <a:ext cx="31214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положить файлы в каталог — модели пересоберутся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562" y="3170661"/>
            <a:ext cx="312145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Новый показатель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7562" y="3444981"/>
            <a:ext cx="312145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spc="-3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одна запись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17562" y="3847317"/>
            <a:ext cx="31214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в схеме показателей — и он в конвейере</a:t>
            </a:r>
          </a:p>
        </p:txBody>
      </p:sp>
      <p:pic>
        <p:nvPicPr>
          <p:cNvPr id="13" name="Picture 12" descr="orgs.png"/>
          <p:cNvPicPr>
            <a:picLocks noChangeAspect="1"/>
          </p:cNvPicPr>
          <p:nvPr/>
        </p:nvPicPr>
        <p:blipFill>
          <a:blip r:embed="rId3"/>
          <a:srcRect r="7134"/>
          <a:stretch>
            <a:fillRect/>
          </a:stretch>
        </p:blipFill>
        <p:spPr>
          <a:xfrm>
            <a:off x="7504773" y="1543029"/>
            <a:ext cx="4119993" cy="2761488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14" name="Rounded Rectangle 13"/>
          <p:cNvSpPr/>
          <p:nvPr/>
        </p:nvSpPr>
        <p:spPr>
          <a:xfrm>
            <a:off x="566928" y="4791456"/>
            <a:ext cx="11057839" cy="1078992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D3CCB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5029200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ДЕМО · ОТКРЫТО ПРЯМО СЕЙЧАС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30352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spc="-20">
                <a:solidFill>
                  <a:srgbClr val="1B1A17"/>
                </a:solidFill>
                <a:latin typeface="Consolas"/>
                <a:ea typeface="Consolas"/>
                <a:cs typeface="Consolas"/>
              </a:rPr>
              <a:t>vitaliysoftware.duckdns.org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5120640"/>
            <a:ext cx="398038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Можно открыть с телефона, пока мы говорим. Развёрнуто в Docker, работает по HTTPS.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VITALIY SOFTWARE SOLUTIONS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8251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5 · ПРЕЗЕНТАЦИЯ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