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начинаем отсчёт: слайд стоит на экране, пока нас представляют. Демо открыть в соседней вкладке заранее.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Блок A1. Заход. Утверждение: отчётность есть, управления по ней нет. Не торопиться — это рамка всего выступления. Закончить фразой «мы превращаем эту отчётность в действия».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Блок A2. Проблема доказывается самим датасетом. Назвать три числа: 26 правок, 17 противоречий, 13 центров с пометками. Ключевая фраза: «мы не чинили данные молча — каждая правка записана».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Короткий переход. Показать обзор. Одна мысль: двадцать книг Excel сведены в один экран, и каждое число раскрывается до исходной строки отчёта.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Блок B1, первая половина. Главная мысль: кластеризуем не посетителей — их персональных данных нет и быть не должно, — а аудиторные модели центров. Сравнивать можно только с равными.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Блок B1, вторая половина. Назвать модели вслух, показать карту. Подчеркнуть: имена не придуманы вручную — они собираются из признаков, наиболее отличающих группу.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Блок B2. Самый сильный слайд по критерию 1 — он же самый дорогой: двадцать баллов. Логика: на двадцати наблюдениях кластеры можно получить всегда, поэтому мы проверили, что они не случайны. Назвать p = 0,0005 и ARI 0,982. Если горит время — оставить только p-значение.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Блок C, первая половина. Показать, что рекомендация — не «совет вообще», а разрыв с медианой сопоставимых центров, переведённый в натуральную величину.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Блок C, вторая половина. Показать очередь мер на экране. Одна фраза: «пятьдесят адресных действий, у каждого — обоснование, эффект и уровень доверия». Обратить внимание на фильтр «только с надёжными данными».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Блок D1. Критерий 4. Обязательно проговорить: резерв считается при НЕИЗМЕННОМ числе мероприятий — это не «дайте денег», а «используйте то, что уже есть». Показать полосы: мы сами вычли шесть мер по четырём центрам, у которых данные противоречивы.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Блок D2. Критерий 4, вторая половина: рынок и бизнес-модель. Главное сказать вслух: единица тиражирования — сеть, а не центр, и стоимость обслуживания от числа центров почти не растёт. Объём рынка по открытым источникам не выдумываем: называем эффект на одну сеть и множитель. Если спросят про объём рынка — ответ именно такой.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Блок E1. Положение требует показать процесс разработки. Логика рассказа: на каждом этапе было решение, и у каждого решения была цена. Сильнее всего звучит правая колонка — что мы выбросили. Назвать вслух хотя бы синтетический NPS и симулятор.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Блок E. Отличает нас от типового дашборда. Сказать прямо: в задании была обратная связь, в датасете её нет, синтетику мы рисовать не стали. Показать панель «Чего в данных нет».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Быстрый слайд. Не зачитывать таблицу — назвать два факта: конвейер целиком пересчитывается за 9,6 секунды и всё воспроизводится с фиксированным сидом.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Блок F. Закрыть кругом: начали с «решений по отчётности не принимают» — заканчиваем «вот пятьдесят решений». Назвать ссылку и остановиться. Не добавлять новых фактов.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5897880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VITALIY SOFTWARE SOLUTIONS · ХАКАТОН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5897880" cy="803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spc="-10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ВитДашборд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90890"/>
            <a:ext cx="5897880" cy="1434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Аналитическая платформа сети центров прототипирования и творческих инкубаторов при вузах культуры: динамика показателей, кластеризация аудиторных моделей и адресные рекомендации по программированию.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554227"/>
            <a:ext cx="5897880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718819"/>
            <a:ext cx="3656685" cy="2213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Центров в 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673099"/>
            <a:ext cx="5897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-80">
                <a:solidFill>
                  <a:srgbClr val="1B1A1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174430"/>
            <a:ext cx="5897880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339022"/>
            <a:ext cx="3656685" cy="2213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Аудиторных моделей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93302"/>
            <a:ext cx="5897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-80">
                <a:solidFill>
                  <a:srgbClr val="1B1A1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794633"/>
            <a:ext cx="5897880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959225"/>
            <a:ext cx="3656685" cy="2213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Адресных мер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913505"/>
            <a:ext cx="5897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-80">
                <a:solidFill>
                  <a:srgbClr val="1B1A17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414836"/>
            <a:ext cx="5897880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579428"/>
            <a:ext cx="3656685" cy="2213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Подтверждённый резерв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533708"/>
            <a:ext cx="5897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-80">
                <a:solidFill>
                  <a:srgbClr val="1B1A17"/>
                </a:solidFill>
                <a:latin typeface="Arial"/>
                <a:ea typeface="Arial"/>
                <a:cs typeface="Arial"/>
              </a:rPr>
              <a:t>9,7</a:t>
            </a: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 млн 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035040"/>
            <a:ext cx="5897880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67728" y="402336"/>
            <a:ext cx="4657039" cy="5632704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658368"/>
            <a:ext cx="4144975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МАРШРУТ ЗАЩИТЫ · 7 МИНУТ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092708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30">
                <a:solidFill>
                  <a:srgbClr val="84806F"/>
                </a:solidFill>
                <a:latin typeface="Arial"/>
                <a:ea typeface="Arial"/>
                <a:cs typeface="Arial"/>
              </a:rPr>
              <a:t>0:00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1078992"/>
            <a:ext cx="2663647" cy="2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A17"/>
                </a:solidFill>
                <a:latin typeface="Arial"/>
                <a:ea typeface="Arial"/>
                <a:cs typeface="Arial"/>
              </a:rPr>
              <a:t>Проблема и решение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1097280"/>
            <a:ext cx="4144975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КОНЦЕПЦИЯ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1500757"/>
            <a:ext cx="4144975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726311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30">
                <a:solidFill>
                  <a:srgbClr val="84806F"/>
                </a:solidFill>
                <a:latin typeface="Arial"/>
                <a:ea typeface="Arial"/>
                <a:cs typeface="Arial"/>
              </a:rPr>
              <a:t>0:25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8" y="1712595"/>
            <a:ext cx="2663647" cy="2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A17"/>
                </a:solidFill>
                <a:latin typeface="Arial"/>
                <a:ea typeface="Arial"/>
                <a:cs typeface="Arial"/>
              </a:rPr>
              <a:t>Что в датасете на самом деле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1730883"/>
            <a:ext cx="4144975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2134361"/>
            <a:ext cx="4144975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359914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30">
                <a:solidFill>
                  <a:srgbClr val="84806F"/>
                </a:solidFill>
                <a:latin typeface="Arial"/>
                <a:ea typeface="Arial"/>
                <a:cs typeface="Arial"/>
              </a:rPr>
              <a:t>1:10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8" y="2346198"/>
            <a:ext cx="2663647" cy="2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A17"/>
                </a:solidFill>
                <a:latin typeface="Arial"/>
                <a:ea typeface="Arial"/>
                <a:cs typeface="Arial"/>
              </a:rPr>
              <a:t>Кластеризация аудиторных моделей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364486"/>
            <a:ext cx="4144975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МЕТОД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2767964"/>
            <a:ext cx="4144975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993518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30">
                <a:solidFill>
                  <a:srgbClr val="84806F"/>
                </a:solidFill>
                <a:latin typeface="Arial"/>
                <a:ea typeface="Arial"/>
                <a:cs typeface="Arial"/>
              </a:rPr>
              <a:t>2:10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8" y="2979802"/>
            <a:ext cx="2663647" cy="2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A17"/>
                </a:solidFill>
                <a:latin typeface="Arial"/>
                <a:ea typeface="Arial"/>
                <a:cs typeface="Arial"/>
              </a:rPr>
              <a:t>Проверка: кластеры не случайны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2998090"/>
            <a:ext cx="4144975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401568"/>
            <a:ext cx="4144975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3627121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30">
                <a:solidFill>
                  <a:srgbClr val="84806F"/>
                </a:solidFill>
                <a:latin typeface="Arial"/>
                <a:ea typeface="Arial"/>
                <a:cs typeface="Arial"/>
              </a:rPr>
              <a:t>3:10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8" y="3613405"/>
            <a:ext cx="2663647" cy="2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A17"/>
                </a:solidFill>
                <a:latin typeface="Arial"/>
                <a:ea typeface="Arial"/>
                <a:cs typeface="Arial"/>
              </a:rPr>
              <a:t>Адресные рекомендации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631693"/>
            <a:ext cx="4144975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4035171"/>
            <a:ext cx="4144975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60" y="4260724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30">
                <a:solidFill>
                  <a:srgbClr val="84806F"/>
                </a:solidFill>
                <a:latin typeface="Arial"/>
                <a:ea typeface="Arial"/>
                <a:cs typeface="Arial"/>
              </a:rPr>
              <a:t>4:10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2128" y="4247008"/>
            <a:ext cx="2663647" cy="2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A17"/>
                </a:solidFill>
                <a:latin typeface="Arial"/>
                <a:ea typeface="Arial"/>
                <a:cs typeface="Arial"/>
              </a:rPr>
              <a:t>Экономика, рынок, модель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4265296"/>
            <a:ext cx="4144975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4668774"/>
            <a:ext cx="4144975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0" y="4894328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30">
                <a:solidFill>
                  <a:srgbClr val="84806F"/>
                </a:solidFill>
                <a:latin typeface="Arial"/>
                <a:ea typeface="Arial"/>
                <a:cs typeface="Arial"/>
              </a:rPr>
              <a:t>5:10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2128" y="4880612"/>
            <a:ext cx="2663647" cy="2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A17"/>
                </a:solidFill>
                <a:latin typeface="Arial"/>
                <a:ea typeface="Arial"/>
                <a:cs typeface="Arial"/>
              </a:rPr>
              <a:t>Процесс разработки и отказы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898900"/>
            <a:ext cx="4144975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ПРОЦЕСС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5302378"/>
            <a:ext cx="4144975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5527931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30">
                <a:solidFill>
                  <a:srgbClr val="84806F"/>
                </a:solidFill>
                <a:latin typeface="Arial"/>
                <a:ea typeface="Arial"/>
                <a:cs typeface="Arial"/>
              </a:rPr>
              <a:t>6:10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82128" y="5514215"/>
            <a:ext cx="2663647" cy="2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A17"/>
                </a:solidFill>
                <a:latin typeface="Arial"/>
                <a:ea typeface="Arial"/>
                <a:cs typeface="Arial"/>
              </a:rPr>
              <a:t>Внедрение и демо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5532503"/>
            <a:ext cx="4144975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ИТОГ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VITALIYSOFTWARE.DUCKDNS.ORG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ЗАЩИТА · 7 МИНУТ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ПРОБЛЕМА · 0:00–0:25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92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Отчётность сдают. Решений по ней не принимают.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6791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81111"/>
            <a:ext cx="3466490" cy="2732793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800567"/>
            <a:ext cx="3027578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84806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184615"/>
            <a:ext cx="3027578" cy="315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spc="-3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Двадцать шаблонов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91158"/>
            <a:ext cx="3027578" cy="101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Каждый центр заполняет формы по-своему: где-то тысячи рублей подписаны рублями, где-то итог не сходится с подпунктами. Свести их вручную — работа на неделю.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720675"/>
            <a:ext cx="3027578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3876123"/>
            <a:ext cx="3027578" cy="4732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26 правок потребовалось только на разбор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2602" y="1581111"/>
            <a:ext cx="3466490" cy="2732793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2058" y="1800567"/>
            <a:ext cx="3027578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8480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2058" y="2184615"/>
            <a:ext cx="3027578" cy="315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spc="-3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Сравнивать не с чем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2058" y="2591158"/>
            <a:ext cx="3027578" cy="101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Консерватория и центр цифрового контента работают с разной аудиторией. Сравнение «всех со всеми» даёт рейтинг, а не управленческий вывод.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82058" y="3720675"/>
            <a:ext cx="3027578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2058" y="3876123"/>
            <a:ext cx="3027578" cy="4732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5 аудиторных моделей вместо одного рейтинга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8276" y="1581111"/>
            <a:ext cx="3466490" cy="2732793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7732" y="1800567"/>
            <a:ext cx="3027578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8480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7732" y="2184615"/>
            <a:ext cx="3027578" cy="315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spc="-3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Видно только постфактум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7732" y="2591158"/>
            <a:ext cx="3027578" cy="767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К декабрю выясняется, что часть центров не вышла на план. В сентябре это уже видно в цифрах — но никто их не сводит.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77732" y="3720675"/>
            <a:ext cx="3027578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7732" y="3876123"/>
            <a:ext cx="3027578" cy="4732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7 центров в зоне риска — видно уже сейчас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269220"/>
            <a:ext cx="9692640" cy="802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Мы сделали платформу, которая превращает эту отчётность в конкретные управленческие действия.</a:t>
            </a:r>
            <a:r>
              <a:rPr sz="190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 Она развёрнута, работает и открыта по ссылке.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958324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ВИТДАШБОРД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02 /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10344607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КРИТЕРИЙ 2 · АКТУАЛЬНОСТЬ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217920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6217920"/>
            <a:ext cx="1474378" cy="12700"/>
          </a:xfrm>
          <a:prstGeom prst="rect">
            <a:avLst/>
          </a:prstGeom>
          <a:solidFill>
            <a:srgbClr val="8480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АКТУАЛЬНОСТЬ · 0:25–1:10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92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Проблема видна в самом датасете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6791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81111"/>
            <a:ext cx="1844040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Правок при разборе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32080"/>
            <a:ext cx="1844040" cy="5221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100">
                <a:solidFill>
                  <a:srgbClr val="1B1A17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90840"/>
            <a:ext cx="1844040" cy="4199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единицы, пустые строки, расхождения итогов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9568" y="1581111"/>
            <a:ext cx="1844040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Противоречий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9568" y="1832080"/>
            <a:ext cx="1844040" cy="5221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100">
                <a:solidFill>
                  <a:srgbClr val="1B1A1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9568" y="2390840"/>
            <a:ext cx="1844040" cy="4199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показатели не сходятся между формами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2208" y="1581111"/>
            <a:ext cx="1844040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Центров с пометками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2208" y="1832080"/>
            <a:ext cx="1844040" cy="5221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100">
                <a:solidFill>
                  <a:srgbClr val="1B1A17"/>
                </a:solidFill>
                <a:latin typeface="Arial"/>
                <a:ea typeface="Arial"/>
                <a:cs typeface="Arial"/>
              </a:rPr>
              <a:t>13</a:t>
            </a:r>
            <a:r>
              <a:rPr sz="100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 из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2208" y="2390840"/>
            <a:ext cx="1844040" cy="4199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у четырёх вклад в резерв не засчитан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58236"/>
            <a:ext cx="5989320" cy="2876803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377692"/>
            <a:ext cx="5550408" cy="315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spc="-3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Три примера из журнала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989974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4" b="1" spc="40">
                <a:solidFill>
                  <a:srgbClr val="84806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57970"/>
            <a:ext cx="5239512" cy="741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Строка подписана «тыс. рублей», но перевод даёт величину </a:t>
            </a: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в 475 раз выше медианы сети</a:t>
            </a: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 — подпись признана ошибочной, значение оставлено в рублях.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841638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4" b="1" spc="40">
                <a:solidFill>
                  <a:srgbClr val="8480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09634"/>
            <a:ext cx="5239512" cy="506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Разработано </a:t>
            </a: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69 форматов при 21 обученном</a:t>
            </a: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: меньше одного участника на мероприятие — вероятна ошибка в строках 3.1–3.4 Формы 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5458182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4" b="1" spc="40">
                <a:solidFill>
                  <a:srgbClr val="8480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426178"/>
            <a:ext cx="5239512" cy="506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Резидентов </a:t>
            </a: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131 при 58 обученных</a:t>
            </a: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 — показатели ведутся по разным контурам, сравнение по ним недостоверно.</a:t>
            </a:r>
          </a:p>
        </p:txBody>
      </p:sp>
      <p:pic>
        <p:nvPicPr>
          <p:cNvPr id="22" name="Picture 21" descr="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581111"/>
            <a:ext cx="4703626" cy="4453928"/>
          </a:xfrm>
          <a:prstGeom prst="rect">
            <a:avLst/>
          </a:prstGeom>
          <a:ln w="9525">
            <a:solidFill>
              <a:srgbClr val="D3CCBC"/>
            </a:solidFill>
          </a:ln>
          <a:effectLst/>
        </p:spPr>
      </p:pic>
      <p:sp>
        <p:nvSpPr>
          <p:cNvPr id="23" name="TextBox 22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РАЗДЕЛ «КАЧЕСТВО ДАННЫХ»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03 /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10344607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КРИТЕРИЙ 2 · АКТУАЛЬНОСТЬ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217920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6217920"/>
            <a:ext cx="2211567" cy="12700"/>
          </a:xfrm>
          <a:prstGeom prst="rect">
            <a:avLst/>
          </a:prstGeom>
          <a:solidFill>
            <a:srgbClr val="8480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РЕШЕНИЕ · 1:10–1:25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92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Двадцать книг Excel — один экран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6791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81111"/>
            <a:ext cx="4941524" cy="4453928"/>
          </a:xfrm>
          <a:prstGeom prst="rect">
            <a:avLst/>
          </a:prstGeom>
          <a:ln w="9525">
            <a:solidFill>
              <a:srgbClr val="D3CCBC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153912" y="5548005"/>
            <a:ext cx="5470855" cy="523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Источник — только годовые формы отчётности. Ни одного показателя, которого нет в исходных файлах.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3912" y="5365125"/>
            <a:ext cx="5470855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53912" y="4750075"/>
            <a:ext cx="5470855" cy="523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Семь разделов: обзор, динамика, вовлечённость, кластеры, организации, рекомендации, качество данных.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3912" y="4439179"/>
            <a:ext cx="5470855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3912" y="1667979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4" b="1" spc="40">
                <a:solidFill>
                  <a:srgbClr val="8480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9944" y="1635975"/>
            <a:ext cx="5214823" cy="588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4 193 участника</a:t>
            </a:r>
            <a:r>
              <a:rPr sz="13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 за девять отчётных месяцев, 307 мероприятий, 2 074 готовые работы, 25,0 млн ₽ платных услуг.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2640624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4" b="1" spc="40">
                <a:solidFill>
                  <a:srgbClr val="8480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608620"/>
            <a:ext cx="5214823" cy="588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7 центров</a:t>
            </a:r>
            <a:r>
              <a:rPr sz="13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 при текущем темпе не выходят на годовую цель — это видно в сентябре, а не в декабре.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613269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4" b="1" spc="40">
                <a:solidFill>
                  <a:srgbClr val="8480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3581265"/>
            <a:ext cx="5214823" cy="588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Любое число раскрывается до карточки центра, исходного файла и строки формы.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РАЗДЕЛ «ОБЗОР»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04 /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10344607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КРИТЕРИЙ 1 · ПРОРАБОТКА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17920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6217920"/>
            <a:ext cx="2948757" cy="12700"/>
          </a:xfrm>
          <a:prstGeom prst="rect">
            <a:avLst/>
          </a:prstGeom>
          <a:solidFill>
            <a:srgbClr val="8480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КЛАСТЕРИЗАЦИЯ · 1:25–1:50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92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Сравнивать можно только с равными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6791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81111"/>
            <a:ext cx="5291175" cy="10847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Персональных данных посетителей в отчётности нет и быть не должно. Зато у каждого центра есть </a:t>
            </a:r>
            <a:r>
              <a:rPr sz="16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профиль аудитории</a:t>
            </a:r>
            <a:r>
              <a:rPr sz="16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 — и его можно кластеризовать.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940190"/>
            <a:ext cx="5291175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196222"/>
            <a:ext cx="2499283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СОСТАВ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70542"/>
            <a:ext cx="2499283" cy="741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Доли четырёх каналов обучения: модули, мастер-классы, повышение квалификации, переподготовка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8819" y="3196222"/>
            <a:ext cx="2499283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МАСШТАБ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8819" y="3470542"/>
            <a:ext cx="2499283" cy="506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Размер аудитории и ширина линейки форматов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61351"/>
            <a:ext cx="2499283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ГЛУБИНА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935671"/>
            <a:ext cx="2499283" cy="506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Наполняемость мероприятия и доля закрепившихся резидентов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8819" y="4661351"/>
            <a:ext cx="2499283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ОТДАЧА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8819" y="4935671"/>
            <a:ext cx="2499283" cy="506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Творческие продукты, платные услуги, публичность результата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3591" y="1581111"/>
            <a:ext cx="5291175" cy="4453928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3047" y="1837143"/>
            <a:ext cx="4852263" cy="315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spc="-3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Одна техническая деталь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216254"/>
            <a:ext cx="4852263" cy="101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Доли каналов — </a:t>
            </a: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композиционные данные</a:t>
            </a: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: они лежат на симплексе, сумма всегда равна единице. Признаки линейно зависимы, и обычная стандартизация для них некорректна — евклидово расстояние искажает близость.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3446355"/>
            <a:ext cx="4852263" cy="101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Применено </a:t>
            </a: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центрированное логарифмическое преобразование</a:t>
            </a: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 с мультипликативной заменой нулей — стандартная практика для составов. Дальше — главные компоненты и кластеризация уже в этом пространстве.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53047" y="4490016"/>
            <a:ext cx="4852263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3047" y="4746048"/>
            <a:ext cx="4852263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Признаков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4746048"/>
            <a:ext cx="4852263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047" y="4968855"/>
            <a:ext cx="4852263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047" y="5046579"/>
            <a:ext cx="4852263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Наблюдений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047" y="5046579"/>
            <a:ext cx="4852263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047" y="5269386"/>
            <a:ext cx="4852263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047" y="5347110"/>
            <a:ext cx="4852263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Компонент после сжатия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047" y="5347110"/>
            <a:ext cx="4852263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047" y="5569917"/>
            <a:ext cx="4852263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047" y="5647641"/>
            <a:ext cx="4852263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Объяснённый разброс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3047" y="5647641"/>
            <a:ext cx="4852263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90 %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ПРИЗНАКОВОЕ ПРОСТРАНСТВО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05 / 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382512"/>
            <a:ext cx="10344607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КРИТЕРИЙ 1 · ПРОРАБОТКА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217920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6217920"/>
            <a:ext cx="3685946" cy="12700"/>
          </a:xfrm>
          <a:prstGeom prst="rect">
            <a:avLst/>
          </a:prstGeom>
          <a:solidFill>
            <a:srgbClr val="8480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АУДИТОРНЫЕ МОДЕЛИ · 1:50–2:10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92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Что сеть делает на самом деле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6791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81111"/>
            <a:ext cx="5667423" cy="4453928"/>
          </a:xfrm>
          <a:prstGeom prst="rect">
            <a:avLst/>
          </a:prstGeom>
          <a:ln w="9525">
            <a:solidFill>
              <a:srgbClr val="D3CCBC"/>
            </a:solidFill>
          </a:ln>
          <a:effectLst/>
        </p:spPr>
      </p:pic>
      <p:sp>
        <p:nvSpPr>
          <p:cNvPr id="6" name="Rounded Rectangle 5"/>
          <p:cNvSpPr/>
          <p:nvPr/>
        </p:nvSpPr>
        <p:spPr>
          <a:xfrm>
            <a:off x="6702552" y="1581111"/>
            <a:ext cx="4922215" cy="788372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22008" y="1795995"/>
            <a:ext cx="105156" cy="105156"/>
          </a:xfrm>
          <a:prstGeom prst="ellipse">
            <a:avLst/>
          </a:prstGeom>
          <a:solidFill>
            <a:srgbClr val="2B6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41464" y="1736559"/>
            <a:ext cx="41541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Массовые просветители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2008" y="1736559"/>
            <a:ext cx="44833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1464" y="2038311"/>
            <a:ext cx="4263847" cy="2435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Массовый охват и широкая линейка форматов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02552" y="2497500"/>
            <a:ext cx="4922215" cy="788372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22008" y="2712384"/>
            <a:ext cx="105156" cy="105156"/>
          </a:xfrm>
          <a:prstGeom prst="ellipse">
            <a:avLst/>
          </a:prstGeom>
          <a:solidFill>
            <a:srgbClr val="A76C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1464" y="2652948"/>
            <a:ext cx="41541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Медийные площадки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8" y="2652948"/>
            <a:ext cx="44833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1464" y="2954700"/>
            <a:ext cx="4263847" cy="2435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Заметность в медиа при камерном формате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2552" y="3413889"/>
            <a:ext cx="4922215" cy="788372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22008" y="3628773"/>
            <a:ext cx="105156" cy="105156"/>
          </a:xfrm>
          <a:prstGeom prst="ellipse">
            <a:avLst/>
          </a:prstGeom>
          <a:solidFill>
            <a:srgbClr val="AA51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4" y="3569337"/>
            <a:ext cx="41541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Продуктовые мастерские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3569337"/>
            <a:ext cx="44833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464" y="3871089"/>
            <a:ext cx="4263847" cy="2435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Сильное ядро резидентов, высокая отдача в продуктах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02552" y="4330278"/>
            <a:ext cx="4922215" cy="788372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22008" y="4545162"/>
            <a:ext cx="105156" cy="105156"/>
          </a:xfrm>
          <a:prstGeom prst="ellipse">
            <a:avLst/>
          </a:prstGeom>
          <a:solidFill>
            <a:srgbClr val="9E9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41464" y="4485726"/>
            <a:ext cx="41541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Открытые бесплатные площадки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4485726"/>
            <a:ext cx="44833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1464" y="4787478"/>
            <a:ext cx="4263847" cy="2435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Бесплатная модель, крупные потоки, узкая линейка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2552" y="5246667"/>
            <a:ext cx="4922215" cy="788372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22008" y="5461551"/>
            <a:ext cx="105156" cy="105156"/>
          </a:xfrm>
          <a:prstGeom prst="ellipse">
            <a:avLst/>
          </a:prstGeom>
          <a:solidFill>
            <a:srgbClr val="078E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41464" y="5402115"/>
            <a:ext cx="41541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Профессиональные академии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5402115"/>
            <a:ext cx="44833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41464" y="5703867"/>
            <a:ext cx="4263847" cy="2435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Ставка на повышение квалификации и мастер-классы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РАЗДЕЛ «КЛАСТЕРЫ»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06 / 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382512"/>
            <a:ext cx="10344607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КРИТЕРИЙ 1 · ПРОРАБОТКА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217920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6217920"/>
            <a:ext cx="4423135" cy="12700"/>
          </a:xfrm>
          <a:prstGeom prst="rect">
            <a:avLst/>
          </a:prstGeom>
          <a:solidFill>
            <a:srgbClr val="8480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ДОКАЗАТЕЛЬСТВО · 2:10–3:10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8288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50" b="1" spc="-6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На двадцати наблюдениях кластеры получаются всегда. Мы проверили, что эти — настоящие.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42677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916997"/>
            <a:ext cx="3466490" cy="3076206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136453"/>
            <a:ext cx="3027578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ПЕРЕСТАНОВОЧНЫЙ ТЕСТ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377615"/>
            <a:ext cx="3027578" cy="575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spc="-3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Структура не случайна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016964"/>
            <a:ext cx="3027578" cy="7353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Признаки перемешиваются внутри столбцов, кластеризация повторяется — так получается, какой силуэт даёт чистый шум.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871200"/>
            <a:ext cx="3027578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026648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Наблюдаемый силуэт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026648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0,326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4242153"/>
            <a:ext cx="3027578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319877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p-значение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319877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0,0005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4535382"/>
            <a:ext cx="3027578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613106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Размер эффекта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613106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9,4 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2602" y="1916997"/>
            <a:ext cx="3466490" cy="3076206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2058" y="2136453"/>
            <a:ext cx="3027578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ИСКЛЮЧЕНИЕ ПО ОДНОМУ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2058" y="2377615"/>
            <a:ext cx="3027578" cy="575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spc="-3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Разбиение не держится на одном центре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2058" y="3016964"/>
            <a:ext cx="3027578" cy="7353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Каждый центр по очереди убирается, модель пересобирается, результат сравнивается по индексу Рэнда.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82058" y="3871200"/>
            <a:ext cx="3027578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2058" y="4026648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Средний ARI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2058" y="4026648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0,982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82058" y="4242153"/>
            <a:ext cx="3027578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82058" y="4319877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Худший прогон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2058" y="4319877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0,849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82058" y="4535382"/>
            <a:ext cx="3027578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82058" y="4613106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Сменили кластер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2058" y="4613106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0 центров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58276" y="1916997"/>
            <a:ext cx="3466490" cy="3076206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7732" y="2136453"/>
            <a:ext cx="3027578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СОГЛАСИЕ АЛГОРИТМОВ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7732" y="2377615"/>
            <a:ext cx="3027578" cy="575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spc="-3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Три метода дают одно разбиение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7732" y="3016964"/>
            <a:ext cx="3027578" cy="7353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Разные семейства сходятся на близком результате — значит, дело в данных, а не в выбранном методе.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77732" y="3871200"/>
            <a:ext cx="3027578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7732" y="4026648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k-средние ~ Уорд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7732" y="4026648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77732" y="4242153"/>
            <a:ext cx="3027578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7732" y="4319877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GMM ~ k-средние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7732" y="4319877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0,757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77732" y="4535382"/>
            <a:ext cx="3027578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77732" y="4613106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Устойчивость мер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7732" y="4613106"/>
            <a:ext cx="3027578" cy="206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96 %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5273685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5548005"/>
            <a:ext cx="10241280" cy="523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Число кластеров тоже не назначено рукой: перебор k от 2 до 5 по четырём метрикам сразу — силуэт, стабильность на бутстрапе, баланс размеров и индекс Дэвиса—Болдина. Сводный балл у </a:t>
            </a: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k = 5</a:t>
            </a: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 — 0,976 против 0,592 у ближайшего.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РАЗДЕЛ «КЛАСТЕРЫ» → ПРОВЕРКИ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07 / 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382512"/>
            <a:ext cx="10344607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КРИТЕРИЙ 1 · ПРОРАБОТКА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6217920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6928" y="6217920"/>
            <a:ext cx="5160324" cy="12700"/>
          </a:xfrm>
          <a:prstGeom prst="rect">
            <a:avLst/>
          </a:prstGeom>
          <a:solidFill>
            <a:srgbClr val="8480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РЕКОМЕНДАЦИИ · 3:10–3:40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92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Не совет, а посчитанный разрыв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6791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13115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4" b="1" spc="40">
                <a:solidFill>
                  <a:srgbClr val="84806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581111"/>
            <a:ext cx="5586984" cy="864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Центр сравнивается с </a:t>
            </a:r>
            <a:r>
              <a:rPr sz="13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медианой своей аудиторной модели</a:t>
            </a:r>
            <a:r>
              <a:rPr sz="13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. Если в модели меньше пяти центров — со всей сетью; круг сравнения указан в каждой мере.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861771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4" b="1" spc="40">
                <a:solidFill>
                  <a:srgbClr val="8480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829767"/>
            <a:ext cx="5586984" cy="588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Разрыв переводится в натуральную величину: участники, работы, рубли, публикации.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34416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4" b="1" spc="40">
                <a:solidFill>
                  <a:srgbClr val="8480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02412"/>
            <a:ext cx="5586984" cy="588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Приоритет складывается из размера разрыва, доли затронутой аудитории и </a:t>
            </a:r>
            <a:r>
              <a:rPr sz="13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надёжности исходных данных</a:t>
            </a:r>
            <a:r>
              <a:rPr sz="13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07061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4" b="1" spc="40">
                <a:solidFill>
                  <a:srgbClr val="8480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775057"/>
            <a:ext cx="5586984" cy="588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Мера пересобирается на возмущённых данных — </a:t>
            </a:r>
            <a:r>
              <a:rPr sz="13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20 прогонов</a:t>
            </a:r>
            <a:r>
              <a:rPr sz="13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, чтобы отсеять артефакты одной выборки.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2008" y="1581111"/>
            <a:ext cx="4702759" cy="4453928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41464" y="1837143"/>
            <a:ext cx="4263847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ПРИМЕР МЕРЫ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1464" y="2078305"/>
            <a:ext cx="4263847" cy="315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spc="-3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Поднять наполняемость мастер-классов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1464" y="2457415"/>
            <a:ext cx="4263847" cy="101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На «Мастер-классы» приходит </a:t>
            </a: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0,3 чел.</a:t>
            </a: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 на мероприятие при медиане </a:t>
            </a: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13,8</a:t>
            </a: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 в своей модели — это нижний квартиль. Мероприятия уже проводятся (68 шт.), значит резерв закрывается работой с набором, а не новой программой.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41464" y="4253160"/>
            <a:ext cx="4263847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4" y="4509192"/>
            <a:ext cx="4263847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Приоритет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4509192"/>
            <a:ext cx="4263847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100 из 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41464" y="4731999"/>
            <a:ext cx="4263847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41464" y="4809723"/>
            <a:ext cx="4263847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Оценка эффекта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1464" y="4809723"/>
            <a:ext cx="4263847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+914 чел.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41464" y="5032529"/>
            <a:ext cx="4263847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1464" y="5110253"/>
            <a:ext cx="4263847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Лучший в группе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1464" y="5110253"/>
            <a:ext cx="4263847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ОГИК · 130,2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41464" y="5552516"/>
            <a:ext cx="1676494" cy="299643"/>
          </a:xfrm>
          <a:prstGeom prst="roundRect">
            <a:avLst>
              <a:gd name="adj" fmla="val 50000"/>
            </a:avLst>
          </a:prstGeom>
          <a:solidFill>
            <a:srgbClr val="F7F1E4"/>
          </a:solidFill>
          <a:ln w="9525">
            <a:solidFill>
              <a:srgbClr val="DCCBA6"/>
            </a:solidFill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8760A"/>
                </a:solidFill>
                <a:latin typeface="Arial"/>
                <a:ea typeface="Arial"/>
                <a:cs typeface="Arial"/>
              </a:rPr>
              <a:t>данные под вопросом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РАЗДЕЛ «РЕКОМЕНДАЦИИ»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08 / 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82512"/>
            <a:ext cx="10344607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КРИТЕРИЙ 3 · ВОСТРЕБОВАННОСТЬ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217920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6217920"/>
            <a:ext cx="5897514" cy="12700"/>
          </a:xfrm>
          <a:prstGeom prst="rect">
            <a:avLst/>
          </a:prstGeom>
          <a:solidFill>
            <a:srgbClr val="8480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ОЧЕРЕДЬ МЕР · 3:40–4:10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92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Очередь мер с доказательной базой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6791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re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81111"/>
            <a:ext cx="6409829" cy="4453928"/>
          </a:xfrm>
          <a:prstGeom prst="rect">
            <a:avLst/>
          </a:prstGeom>
          <a:ln w="9525">
            <a:solidFill>
              <a:srgbClr val="D3CCBC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927848" y="1581111"/>
            <a:ext cx="3696919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Мер в очереди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7848" y="1832080"/>
            <a:ext cx="3696919" cy="551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100">
                <a:solidFill>
                  <a:srgbClr val="1B1A17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7848" y="2420047"/>
            <a:ext cx="3696919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по семи типам, средний приоритет 51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7848" y="2791434"/>
            <a:ext cx="369691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3065754"/>
            <a:ext cx="3696919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Устойчивы к возмущению данных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8" y="3316723"/>
            <a:ext cx="3696919" cy="551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100">
                <a:solidFill>
                  <a:srgbClr val="1B1A17"/>
                </a:solidFill>
                <a:latin typeface="Arial"/>
                <a:ea typeface="Arial"/>
                <a:cs typeface="Arial"/>
              </a:rPr>
              <a:t>96</a:t>
            </a:r>
            <a:r>
              <a:rPr sz="1019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3904690"/>
            <a:ext cx="3696919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20 прогонов, средняя выживаемость 98 %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7848" y="4276077"/>
            <a:ext cx="369691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4550397"/>
            <a:ext cx="3696919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Центров охвачено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4801366"/>
            <a:ext cx="3696919" cy="551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100">
                <a:solidFill>
                  <a:srgbClr val="1B1A17"/>
                </a:solidFill>
                <a:latin typeface="Arial"/>
                <a:ea typeface="Arial"/>
                <a:cs typeface="Arial"/>
              </a:rPr>
              <a:t>20</a:t>
            </a:r>
            <a:r>
              <a:rPr sz="1019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 из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5389333"/>
            <a:ext cx="3696919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у каждого — своя очередь действий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РАЗДЕЛ «РЕКОМЕНДАЦИИ»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09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10344607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КРИТЕРИЙ 3 · ВОСТРЕБОВАННОСТЬ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217920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6217920"/>
            <a:ext cx="6634703" cy="12700"/>
          </a:xfrm>
          <a:prstGeom prst="rect">
            <a:avLst/>
          </a:prstGeom>
          <a:solidFill>
            <a:srgbClr val="8480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B8677"/>
                </a:solidFill>
                <a:latin typeface="Arial"/>
                <a:ea typeface="Arial"/>
                <a:cs typeface="Arial"/>
              </a:rPr>
              <a:t>ЭКОНОМИКА · 4:10–4:40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92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F2EFE8"/>
                </a:solidFill>
                <a:latin typeface="Times New Roman"/>
                <a:ea typeface="Times New Roman"/>
                <a:cs typeface="Times New Roman"/>
              </a:rPr>
              <a:t>Резерв закрывается без роста бюджета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6791"/>
            <a:ext cx="11057839" cy="6350"/>
          </a:xfrm>
          <a:prstGeom prst="rect">
            <a:avLst/>
          </a:prstGeom>
          <a:solidFill>
            <a:srgbClr val="3B39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09127"/>
            <a:ext cx="1973823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4B0A2"/>
                </a:solidFill>
                <a:latin typeface="Arial"/>
                <a:ea typeface="Arial"/>
                <a:cs typeface="Arial"/>
              </a:rPr>
              <a:t>Платные услуги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0096"/>
            <a:ext cx="1973823" cy="6390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100">
                <a:solidFill>
                  <a:srgbClr val="F2EFE8"/>
                </a:solidFill>
                <a:latin typeface="Arial"/>
                <a:ea typeface="Arial"/>
                <a:cs typeface="Arial"/>
              </a:rPr>
              <a:t>+9,7</a:t>
            </a:r>
            <a:r>
              <a:rPr sz="1200" b="0">
                <a:solidFill>
                  <a:srgbClr val="8B8677"/>
                </a:solidFill>
                <a:latin typeface="Arial"/>
                <a:ea typeface="Arial"/>
                <a:cs typeface="Arial"/>
              </a:rPr>
              <a:t> млн 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35686"/>
            <a:ext cx="1973823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B8677"/>
                </a:solidFill>
                <a:latin typeface="Arial"/>
                <a:ea typeface="Arial"/>
                <a:cs typeface="Arial"/>
              </a:rPr>
              <a:t>9 центров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8495" y="1709127"/>
            <a:ext cx="1973823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4B0A2"/>
                </a:solidFill>
                <a:latin typeface="Arial"/>
                <a:ea typeface="Arial"/>
                <a:cs typeface="Arial"/>
              </a:rPr>
              <a:t>Творческие работы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8495" y="1960096"/>
            <a:ext cx="1973823" cy="6390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100">
                <a:solidFill>
                  <a:srgbClr val="F2EFE8"/>
                </a:solidFill>
                <a:latin typeface="Arial"/>
                <a:ea typeface="Arial"/>
                <a:cs typeface="Arial"/>
              </a:rPr>
              <a:t>+1 411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8495" y="2635686"/>
            <a:ext cx="1973823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B8677"/>
                </a:solidFill>
                <a:latin typeface="Arial"/>
                <a:ea typeface="Arial"/>
                <a:cs typeface="Arial"/>
              </a:rPr>
              <a:t>8 центров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0063" y="1709127"/>
            <a:ext cx="1973823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4B0A2"/>
                </a:solidFill>
                <a:latin typeface="Arial"/>
                <a:ea typeface="Arial"/>
                <a:cs typeface="Arial"/>
              </a:rPr>
              <a:t>Участники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0063" y="1960096"/>
            <a:ext cx="1973823" cy="6390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100">
                <a:solidFill>
                  <a:srgbClr val="F2EFE8"/>
                </a:solidFill>
                <a:latin typeface="Arial"/>
                <a:ea typeface="Arial"/>
                <a:cs typeface="Arial"/>
              </a:rPr>
              <a:t>+753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0063" y="2635686"/>
            <a:ext cx="1973823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B8677"/>
                </a:solidFill>
                <a:latin typeface="Arial"/>
                <a:ea typeface="Arial"/>
                <a:cs typeface="Arial"/>
              </a:rPr>
              <a:t>13 центров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1631" y="1709127"/>
            <a:ext cx="1973823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4B0A2"/>
                </a:solidFill>
                <a:latin typeface="Arial"/>
                <a:ea typeface="Arial"/>
                <a:cs typeface="Arial"/>
              </a:rPr>
              <a:t>Публикации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1631" y="1960096"/>
            <a:ext cx="1973823" cy="6390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100">
                <a:solidFill>
                  <a:srgbClr val="F2EFE8"/>
                </a:solidFill>
                <a:latin typeface="Arial"/>
                <a:ea typeface="Arial"/>
                <a:cs typeface="Arial"/>
              </a:rPr>
              <a:t>+317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1631" y="2635686"/>
            <a:ext cx="1973823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B8677"/>
                </a:solidFill>
                <a:latin typeface="Arial"/>
                <a:ea typeface="Arial"/>
                <a:cs typeface="Arial"/>
              </a:rPr>
              <a:t>8 центров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3199" y="1709127"/>
            <a:ext cx="1973823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4B0A2"/>
                </a:solidFill>
                <a:latin typeface="Arial"/>
                <a:ea typeface="Arial"/>
                <a:cs typeface="Arial"/>
              </a:rPr>
              <a:t>Мероприятия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3199" y="1960096"/>
            <a:ext cx="1973823" cy="6390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100">
                <a:solidFill>
                  <a:srgbClr val="F2EFE8"/>
                </a:solidFill>
                <a:latin typeface="Arial"/>
                <a:ea typeface="Arial"/>
                <a:cs typeface="Arial"/>
              </a:rPr>
              <a:t>+81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3199" y="2635686"/>
            <a:ext cx="1973823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B8677"/>
                </a:solidFill>
                <a:latin typeface="Arial"/>
                <a:ea typeface="Arial"/>
                <a:cs typeface="Arial"/>
              </a:rPr>
              <a:t>6 центров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247984"/>
            <a:ext cx="11057839" cy="6350"/>
          </a:xfrm>
          <a:prstGeom prst="rect">
            <a:avLst/>
          </a:prstGeom>
          <a:solidFill>
            <a:srgbClr val="3B39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540592"/>
            <a:ext cx="3307994" cy="315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spc="-30">
                <a:solidFill>
                  <a:srgbClr val="F2EFE8"/>
                </a:solidFill>
                <a:latin typeface="Times New Roman"/>
                <a:ea typeface="Times New Roman"/>
                <a:cs typeface="Times New Roman"/>
              </a:rPr>
              <a:t>Откуда берётся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919702"/>
            <a:ext cx="3307994" cy="12541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4B0A2"/>
                </a:solidFill>
                <a:latin typeface="Arial"/>
                <a:ea typeface="Arial"/>
                <a:cs typeface="Arial"/>
              </a:rPr>
              <a:t>Это разрыв между центром и медианой </a:t>
            </a:r>
            <a:r>
              <a:rPr sz="1150" b="1">
                <a:solidFill>
                  <a:srgbClr val="F2EFE8"/>
                </a:solidFill>
                <a:latin typeface="Arial"/>
                <a:ea typeface="Arial"/>
                <a:cs typeface="Arial"/>
              </a:rPr>
              <a:t>сопоставимых</a:t>
            </a:r>
            <a:r>
              <a:rPr sz="1150" b="0">
                <a:solidFill>
                  <a:srgbClr val="B4B0A2"/>
                </a:solidFill>
                <a:latin typeface="Arial"/>
                <a:ea typeface="Arial"/>
                <a:cs typeface="Arial"/>
              </a:rPr>
              <a:t> центров — при неизменном числе мероприятий и неизменном бюджете. Не «дайте денег», а «используйте то, что уже проводится».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1850" y="3540592"/>
            <a:ext cx="3307994" cy="315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spc="-30">
                <a:solidFill>
                  <a:srgbClr val="F2EFE8"/>
                </a:solidFill>
                <a:latin typeface="Times New Roman"/>
                <a:ea typeface="Times New Roman"/>
                <a:cs typeface="Times New Roman"/>
              </a:rPr>
              <a:t>Почему числу можно верить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850" y="3919702"/>
            <a:ext cx="3307994" cy="12541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4B0A2"/>
                </a:solidFill>
                <a:latin typeface="Arial"/>
                <a:ea typeface="Arial"/>
                <a:cs typeface="Arial"/>
              </a:rPr>
              <a:t>Показан </a:t>
            </a:r>
            <a:r>
              <a:rPr sz="1150" b="1">
                <a:solidFill>
                  <a:srgbClr val="F2EFE8"/>
                </a:solidFill>
                <a:latin typeface="Arial"/>
                <a:ea typeface="Arial"/>
                <a:cs typeface="Arial"/>
              </a:rPr>
              <a:t>подтверждённый</a:t>
            </a:r>
            <a:r>
              <a:rPr sz="1150" b="0">
                <a:solidFill>
                  <a:srgbClr val="B4B0A2"/>
                </a:solidFill>
                <a:latin typeface="Arial"/>
                <a:ea typeface="Arial"/>
                <a:cs typeface="Arial"/>
              </a:rPr>
              <a:t> резерв: из полного вычтены шесть мер по четырём центрам, у которых показатели внутри отчёта противоречат друг другу. Мы сами уменьшили свою цифру.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6772" y="3540592"/>
            <a:ext cx="3307994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B8677"/>
                </a:solidFill>
                <a:latin typeface="Arial"/>
                <a:ea typeface="Arial"/>
                <a:cs typeface="Arial"/>
              </a:rPr>
              <a:t>ПОЛНЫЙ РЕЗЕРВ → ПОДТВЕРЖДЁННЫЙ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6772" y="3909769"/>
            <a:ext cx="2050956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4B0A2"/>
                </a:solidFill>
                <a:latin typeface="Arial"/>
                <a:ea typeface="Arial"/>
                <a:cs typeface="Arial"/>
              </a:rPr>
              <a:t>Платные услуги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6772" y="3909769"/>
            <a:ext cx="3307994" cy="1990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2EFE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16772" y="4154548"/>
            <a:ext cx="3307994" cy="77724"/>
          </a:xfrm>
          <a:prstGeom prst="rect">
            <a:avLst/>
          </a:prstGeom>
          <a:solidFill>
            <a:srgbClr val="4C493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16772" y="4154548"/>
            <a:ext cx="3307994" cy="77724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6772" y="4334823"/>
            <a:ext cx="2050956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4B0A2"/>
                </a:solidFill>
                <a:latin typeface="Arial"/>
                <a:ea typeface="Arial"/>
                <a:cs typeface="Arial"/>
              </a:rPr>
              <a:t>Творческие работы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6772" y="4334823"/>
            <a:ext cx="3307994" cy="1990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2EFE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16772" y="4579602"/>
            <a:ext cx="3307994" cy="77724"/>
          </a:xfrm>
          <a:prstGeom prst="rect">
            <a:avLst/>
          </a:prstGeom>
          <a:solidFill>
            <a:srgbClr val="4C493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16772" y="4579602"/>
            <a:ext cx="3307994" cy="77724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6772" y="4759877"/>
            <a:ext cx="2050956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4B0A2"/>
                </a:solidFill>
                <a:latin typeface="Arial"/>
                <a:ea typeface="Arial"/>
                <a:cs typeface="Arial"/>
              </a:rPr>
              <a:t>Мероприятия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6772" y="4759877"/>
            <a:ext cx="3307994" cy="1990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2EFE8"/>
                </a:solidFill>
                <a:latin typeface="Arial"/>
                <a:ea typeface="Arial"/>
                <a:cs typeface="Arial"/>
              </a:rPr>
              <a:t>71%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16772" y="5004656"/>
            <a:ext cx="3307994" cy="77724"/>
          </a:xfrm>
          <a:prstGeom prst="rect">
            <a:avLst/>
          </a:prstGeom>
          <a:solidFill>
            <a:srgbClr val="4C493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16772" y="5004656"/>
            <a:ext cx="2345931" cy="77724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16772" y="5184931"/>
            <a:ext cx="2050956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4B0A2"/>
                </a:solidFill>
                <a:latin typeface="Arial"/>
                <a:ea typeface="Arial"/>
                <a:cs typeface="Arial"/>
              </a:rPr>
              <a:t>Публикации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6772" y="5184931"/>
            <a:ext cx="3307994" cy="1990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2EFE8"/>
                </a:solidFill>
                <a:latin typeface="Arial"/>
                <a:ea typeface="Arial"/>
                <a:cs typeface="Arial"/>
              </a:rPr>
              <a:t>58%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16772" y="5429711"/>
            <a:ext cx="3307994" cy="77724"/>
          </a:xfrm>
          <a:prstGeom prst="rect">
            <a:avLst/>
          </a:prstGeom>
          <a:solidFill>
            <a:srgbClr val="4C493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16772" y="5429711"/>
            <a:ext cx="1906607" cy="77724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16772" y="5609985"/>
            <a:ext cx="2050956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4B0A2"/>
                </a:solidFill>
                <a:latin typeface="Arial"/>
                <a:ea typeface="Arial"/>
                <a:cs typeface="Arial"/>
              </a:rPr>
              <a:t>Участники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6772" y="5609985"/>
            <a:ext cx="3307994" cy="1990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2EFE8"/>
                </a:solidFill>
                <a:latin typeface="Arial"/>
                <a:ea typeface="Arial"/>
                <a:cs typeface="Arial"/>
              </a:rPr>
              <a:t>45%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16772" y="5854765"/>
            <a:ext cx="3307994" cy="77724"/>
          </a:xfrm>
          <a:prstGeom prst="rect">
            <a:avLst/>
          </a:prstGeom>
          <a:solidFill>
            <a:srgbClr val="4C493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16772" y="5854765"/>
            <a:ext cx="1474591" cy="77724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B8677"/>
                </a:solidFill>
                <a:latin typeface="Arial"/>
                <a:ea typeface="Arial"/>
                <a:cs typeface="Arial"/>
              </a:rPr>
              <a:t>РАЗДЕЛ «РЕКОМЕНДАЦИИ» → СОВОКУПНЫЙ РЕЗЕРВ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B8677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382512"/>
            <a:ext cx="10344607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B8677"/>
                </a:solidFill>
                <a:latin typeface="Arial"/>
                <a:ea typeface="Arial"/>
                <a:cs typeface="Arial"/>
              </a:rPr>
              <a:t>КРИТЕРИЙ 4 · ЭКОНОМИКА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6217920"/>
            <a:ext cx="11057839" cy="6350"/>
          </a:xfrm>
          <a:prstGeom prst="rect">
            <a:avLst/>
          </a:prstGeom>
          <a:solidFill>
            <a:srgbClr val="3B39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6928" y="6217920"/>
            <a:ext cx="7371892" cy="1270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РЫНОК И МОДЕЛЬ · 4:40–5:10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92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Единица внедрения — сеть, а не центр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6791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81111"/>
            <a:ext cx="1837944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Резерв на сеть из 20 центров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32080"/>
            <a:ext cx="1837944" cy="5221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100">
                <a:solidFill>
                  <a:srgbClr val="1B1A17"/>
                </a:solidFill>
                <a:latin typeface="Arial"/>
                <a:ea typeface="Arial"/>
                <a:cs typeface="Arial"/>
              </a:rPr>
              <a:t>9,7</a:t>
            </a:r>
            <a:r>
              <a:rPr sz="100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 млн 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90840"/>
            <a:ext cx="1837944" cy="4199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в год, подтверждённая часть, только выручка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5768" y="1581111"/>
            <a:ext cx="1837944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В пересчёте на центр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5768" y="1832080"/>
            <a:ext cx="1837944" cy="5221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100">
                <a:solidFill>
                  <a:srgbClr val="1B1A17"/>
                </a:solidFill>
                <a:latin typeface="Arial"/>
                <a:ea typeface="Arial"/>
                <a:cs typeface="Arial"/>
              </a:rPr>
              <a:t>≈ 0,48</a:t>
            </a:r>
            <a:r>
              <a:rPr sz="100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 млн 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5768" y="2390840"/>
            <a:ext cx="1837944" cy="4199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в год, плюс работы, участники, публикации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1581111"/>
            <a:ext cx="1837944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Стоимость эксплуатации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832080"/>
            <a:ext cx="1837944" cy="5221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100">
                <a:solidFill>
                  <a:srgbClr val="1B1A17"/>
                </a:solidFill>
                <a:latin typeface="Arial"/>
                <a:ea typeface="Arial"/>
                <a:cs typeface="Arial"/>
              </a:rPr>
              <a:t>1</a:t>
            </a:r>
            <a:r>
              <a:rPr sz="100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 контейнер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2390840"/>
            <a:ext cx="1837944" cy="4199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без внешних лицензий и платных сервисов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957068"/>
            <a:ext cx="6446520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194812"/>
            <a:ext cx="6446520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КОМУ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469132"/>
            <a:ext cx="6446520" cy="523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Тому, кто сводит отчётность нескольких учреждений: учредителю сети, региональному органу управления культурой. Признак применимости один — те же формы 1 и 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095207"/>
            <a:ext cx="6446520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234248"/>
            <a:ext cx="6446520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ЧТО ПРОДАЁТСЯ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508568"/>
            <a:ext cx="6446520" cy="523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Не экран с графиками, а сокращение цикла «отчёт → решение». Внедрение — разовая настройка на форматы отчётности; дальше подписка на пересчёт и поддержку.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134644"/>
            <a:ext cx="6446520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273685"/>
            <a:ext cx="6446520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ПОЧЕМУ ТИРАЖИРУЕТСЯ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548005"/>
            <a:ext cx="6446520" cy="523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Конвейер читает формы, а не конкретные файлы. Новый центр — ещё один файл в каталоге, а не новая интеграция: стоимость обслуживания сети почти не растёт с числом центров.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70648" y="1581111"/>
            <a:ext cx="4154119" cy="4453928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0104" y="1837143"/>
            <a:ext cx="3715207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ЧЕСТНО ПРО РЫНОК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0104" y="2078305"/>
            <a:ext cx="3715207" cy="767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Объём рынка по открытым источникам мы не считали: в датасете его нет, а выдуманная цифра проверяется за полминуты.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0104" y="3064889"/>
            <a:ext cx="3715207" cy="101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Считаем проверяемое: эффект на сеть и стоимость её обслуживания. Эффект линеен по числу </a:t>
            </a: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сетей</a:t>
            </a: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, а не центров — вторая такая же сеть даёт ещё 9,7 млн ₽ при той же стоимости разработки.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90104" y="4772259"/>
            <a:ext cx="3715207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0104" y="5046579"/>
            <a:ext cx="3715207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Сетей в расчёте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0104" y="5046579"/>
            <a:ext cx="3715207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90104" y="5269386"/>
            <a:ext cx="3715207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0104" y="5347110"/>
            <a:ext cx="3715207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Центров в сети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0104" y="5347110"/>
            <a:ext cx="3715207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90104" y="5569917"/>
            <a:ext cx="3715207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0104" y="5647641"/>
            <a:ext cx="3715207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Годовой резерв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0104" y="5647641"/>
            <a:ext cx="3715207" cy="213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9,7 млн 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ЭКОНОМИКА ВНЕДРЕНИЯ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82512"/>
            <a:ext cx="10344607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КРИТЕРИЙ 4 · БИЗНЕС-МОДЕЛЬ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217920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6217920"/>
            <a:ext cx="8109082" cy="12700"/>
          </a:xfrm>
          <a:prstGeom prst="rect">
            <a:avLst/>
          </a:prstGeom>
          <a:solidFill>
            <a:srgbClr val="8480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ПРОЦЕСС · 5:10–5:35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92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Четыре решения, которые определили продукт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6791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61655"/>
            <a:ext cx="30632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99399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84806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1581111"/>
            <a:ext cx="2679191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РАЗБОР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837143"/>
            <a:ext cx="2679191" cy="575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spc="-3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Сначала журнал, потом цифры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503924"/>
            <a:ext cx="2679191" cy="101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Двадцать книг с разными шаблонами. Решили: ни одной правки молча — каждая попадает в журнал и видна рядом с числом.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95927" y="1361655"/>
            <a:ext cx="30632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95927" y="1599399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8480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5" y="1581111"/>
            <a:ext cx="2679191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ПРИЗНАКИ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9975" y="1837143"/>
            <a:ext cx="2679191" cy="575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spc="-3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Не сравнивать несравнимое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5" y="2503924"/>
            <a:ext cx="2679191" cy="101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Доли каналов — состав, а не обычные числа. Решили: CLR-преобразование вместо сырых долей, иначе расстояния считаются неверно.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808075"/>
            <a:ext cx="30632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156446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8480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138158"/>
            <a:ext cx="2679191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МОДЕЛИ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394190"/>
            <a:ext cx="2679191" cy="575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spc="-3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Сначала проверка, потом вывод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5060971"/>
            <a:ext cx="2679191" cy="101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На двадцати наблюдениях кластеры выходят всегда. Решили: k по четырём метрикам, разбиение принимается после теста значимости.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95927" y="3808075"/>
            <a:ext cx="30632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95927" y="4156446"/>
            <a:ext cx="3840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8480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9975" y="4138158"/>
            <a:ext cx="2679191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ВИТРИНА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5" y="4394190"/>
            <a:ext cx="2679191" cy="575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spc="-3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Только то, что пришло из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5" y="5060971"/>
            <a:ext cx="2679191" cy="101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Первый интерфейс на Vue показывал числа, зашитые в код. Решили: переписать с нуля и удалить всё, чего нет в ответах сервиса.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16367" y="1581111"/>
            <a:ext cx="4108399" cy="4453928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35823" y="1837143"/>
            <a:ext cx="3669487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ЧТО ВЫБРОСИЛИ ПО ДОРОГЕ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5823" y="2078305"/>
            <a:ext cx="3669487" cy="315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spc="-3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Отказ — тоже результат разработки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5823" y="2727163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4" b="1" spc="40">
                <a:solidFill>
                  <a:srgbClr val="8480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855" y="2695159"/>
            <a:ext cx="3413455" cy="741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Синтетическая обратная связь и NPS</a:t>
            </a: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 — их нет в отчётности, а решать по выдуманному числу нельзя.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3" y="3610558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4" b="1" spc="40">
                <a:solidFill>
                  <a:srgbClr val="8480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5" y="3578554"/>
            <a:ext cx="3413455" cy="741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Симулятор с ползунками</a:t>
            </a: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 — умножал уже посчитанные оценки на коэффициенты и выдавал это за эксперимент.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35823" y="4493953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4" b="1" spc="40">
                <a:solidFill>
                  <a:srgbClr val="8480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1855" y="4461949"/>
            <a:ext cx="3413455" cy="506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Квартальные ряды</a:t>
            </a: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 — были записаны прямо в коде интерфейса, в формах их нет.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5823" y="5142227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4" b="1" spc="40">
                <a:solidFill>
                  <a:srgbClr val="8480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91855" y="5110223"/>
            <a:ext cx="3413455" cy="741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Радар «средней нормы сети»</a:t>
            </a: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 — 50 баллов по каждой оси были условным ориентиром, а не расчётом.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ПРОЦЕСС РАЗРАБОТКИ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82512"/>
            <a:ext cx="10344607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КРИТЕРИЙ 1 · ПРОРАБОТКА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217920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6217920"/>
            <a:ext cx="8846271" cy="12700"/>
          </a:xfrm>
          <a:prstGeom prst="rect">
            <a:avLst/>
          </a:prstGeom>
          <a:solidFill>
            <a:srgbClr val="8480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ЧЕСТНОСТЬ ДАННЫХ · 5:35–6:10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92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Мы не рисуем то, чего нет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6791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81111"/>
            <a:ext cx="10424160" cy="1185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В задании была обратная связь. В датасете её нет — ни одной строки об удовлетворённости. </a:t>
            </a:r>
            <a:r>
              <a:rPr sz="19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Синтетический NPS генерируется за час, но решать по выдуманным метрикам нельзя.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040737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3333345"/>
            <a:ext cx="5806440" cy="2701694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552801"/>
            <a:ext cx="5367527" cy="315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spc="-3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Что сделано вместо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201659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4" b="1" spc="40">
                <a:solidFill>
                  <a:srgbClr val="8480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4169655"/>
            <a:ext cx="5111495" cy="506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Наблюдаемые заменители: </a:t>
            </a: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конверсия в готовую работу</a:t>
            </a: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, доля закрепившихся резидентов, внешняя заметность результата.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818203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4" b="1" spc="40">
                <a:solidFill>
                  <a:srgbClr val="8480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786199"/>
            <a:ext cx="5111495" cy="506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Отдельная панель </a:t>
            </a:r>
            <a:r>
              <a:rPr sz="11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«Чего в данных нет»</a:t>
            </a: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: перечень недостающих источников и что каждый из них дал бы.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434747"/>
            <a:ext cx="256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4" b="1" spc="40">
                <a:solidFill>
                  <a:srgbClr val="8480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5402743"/>
            <a:ext cx="5111495" cy="506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Показатель без базы 2025 года не получает ни прироста, ни нуля — он помечен как несравнимый.</a:t>
            </a:r>
          </a:p>
        </p:txBody>
      </p:sp>
      <p:pic>
        <p:nvPicPr>
          <p:cNvPr id="15" name="Picture 14" descr="g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209" y="3333345"/>
            <a:ext cx="4310900" cy="2701694"/>
          </a:xfrm>
          <a:prstGeom prst="rect">
            <a:avLst/>
          </a:prstGeom>
          <a:ln w="9525">
            <a:solidFill>
              <a:srgbClr val="D3CCBC"/>
            </a:solidFill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РАЗДЕЛ «ВОВЛЕЧЁННОСТЬ»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10344607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КРИТЕРИЙ 1 · ПРОРАБОТКА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17920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6217920"/>
            <a:ext cx="9583460" cy="12700"/>
          </a:xfrm>
          <a:prstGeom prst="rect">
            <a:avLst/>
          </a:prstGeom>
          <a:solidFill>
            <a:srgbClr val="8480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АРХИТЕКТУРА · 6:10–6:30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92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Конвейер целиком — 9,6 секунды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6791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81111"/>
            <a:ext cx="2558719" cy="1727294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800567"/>
            <a:ext cx="2119807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114881"/>
            <a:ext cx="2119807" cy="101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Устойчивый разбор 20 разнородных книг Excel, приведение единиц, журнал каждой правки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9967" y="1581111"/>
            <a:ext cx="2558719" cy="1727294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9423" y="1800567"/>
            <a:ext cx="2119807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МОДЕЛИ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423" y="2114881"/>
            <a:ext cx="2119807" cy="101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CLR-признаки, PCA, k-средние / Уорд / GMM, перестановочный тест, leave-one-out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581111"/>
            <a:ext cx="2558719" cy="1727294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2463" y="1800567"/>
            <a:ext cx="2119807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2463" y="2114881"/>
            <a:ext cx="2119807" cy="767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FastAPI, 14 эндпоинтов, результат конвейера держится в памяти процесса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6047" y="1581111"/>
            <a:ext cx="2558719" cy="1727294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E3DED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5503" y="1800567"/>
            <a:ext cx="2119807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ВИТРИНА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5503" y="2114881"/>
            <a:ext cx="2119807" cy="767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React 19 + TypeScript, графики собственные на SVG, палитра проверена машинно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062845"/>
            <a:ext cx="3320186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Сборка конвейера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313814"/>
            <a:ext cx="3320186" cy="492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00">
                <a:solidFill>
                  <a:srgbClr val="1B1A17"/>
                </a:solidFill>
                <a:latin typeface="Arial"/>
                <a:ea typeface="Arial"/>
                <a:cs typeface="Arial"/>
              </a:rPr>
              <a:t>9,6</a:t>
            </a:r>
            <a:r>
              <a:rPr sz="100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 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843366"/>
            <a:ext cx="3320186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от книги Excel до готовой меры, на сервере демо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2874" y="5062845"/>
            <a:ext cx="3320186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Воспроизводимость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2874" y="5313814"/>
            <a:ext cx="3320186" cy="492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00">
                <a:solidFill>
                  <a:srgbClr val="1B1A17"/>
                </a:solidFill>
                <a:latin typeface="Arial"/>
                <a:ea typeface="Arial"/>
                <a:cs typeface="Arial"/>
              </a:rPr>
              <a:t>100</a:t>
            </a:r>
            <a:r>
              <a:rPr sz="100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2874" y="5843366"/>
            <a:ext cx="3320186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фиксированный сид во всех случайных процессах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8820" y="5062845"/>
            <a:ext cx="3320186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Развёрнуто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8820" y="5313814"/>
            <a:ext cx="3320186" cy="492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00">
                <a:solidFill>
                  <a:srgbClr val="1B1A17"/>
                </a:solidFill>
                <a:latin typeface="Arial"/>
                <a:ea typeface="Arial"/>
                <a:cs typeface="Arial"/>
              </a:rPr>
              <a:t>Docker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8820" y="5843366"/>
            <a:ext cx="3320186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HTTPS, автопродление сертификата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733661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921054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6928" y="3870762"/>
            <a:ext cx="100584" cy="100584"/>
          </a:xfrm>
          <a:prstGeom prst="ellipse">
            <a:avLst/>
          </a:prstGeom>
          <a:solidFill>
            <a:srgbClr val="1B1A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131366"/>
            <a:ext cx="13968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84806F"/>
                </a:solidFill>
                <a:latin typeface="Arial"/>
                <a:ea typeface="Arial"/>
                <a:cs typeface="Arial"/>
              </a:rPr>
              <a:t>01  </a:t>
            </a:r>
            <a:r>
              <a:rPr sz="12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Excel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369110"/>
            <a:ext cx="1396811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20 книг</a:t>
            </a:r>
          </a:p>
        </p:txBody>
      </p:sp>
      <p:sp>
        <p:nvSpPr>
          <p:cNvPr id="31" name="Oval 30"/>
          <p:cNvSpPr/>
          <p:nvPr/>
        </p:nvSpPr>
        <p:spPr>
          <a:xfrm>
            <a:off x="2146619" y="3870762"/>
            <a:ext cx="100584" cy="100584"/>
          </a:xfrm>
          <a:prstGeom prst="ellipse">
            <a:avLst/>
          </a:prstGeom>
          <a:solidFill>
            <a:srgbClr val="D3CC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46619" y="4131366"/>
            <a:ext cx="13968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84806F"/>
                </a:solidFill>
                <a:latin typeface="Arial"/>
                <a:ea typeface="Arial"/>
                <a:cs typeface="Arial"/>
              </a:rPr>
              <a:t>02  </a:t>
            </a:r>
            <a:r>
              <a:rPr sz="12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Разбор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6619" y="4369110"/>
            <a:ext cx="1396811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единицы, журнал</a:t>
            </a:r>
          </a:p>
        </p:txBody>
      </p:sp>
      <p:sp>
        <p:nvSpPr>
          <p:cNvPr id="34" name="Oval 33"/>
          <p:cNvSpPr/>
          <p:nvPr/>
        </p:nvSpPr>
        <p:spPr>
          <a:xfrm>
            <a:off x="3726310" y="3870762"/>
            <a:ext cx="100584" cy="100584"/>
          </a:xfrm>
          <a:prstGeom prst="ellipse">
            <a:avLst/>
          </a:prstGeom>
          <a:solidFill>
            <a:srgbClr val="D3CC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26310" y="4131366"/>
            <a:ext cx="13968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84806F"/>
                </a:solidFill>
                <a:latin typeface="Arial"/>
                <a:ea typeface="Arial"/>
                <a:cs typeface="Arial"/>
              </a:rPr>
              <a:t>03  </a:t>
            </a:r>
            <a:r>
              <a:rPr sz="12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Признаки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26310" y="4369110"/>
            <a:ext cx="1396811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11 на центр</a:t>
            </a:r>
          </a:p>
        </p:txBody>
      </p:sp>
      <p:sp>
        <p:nvSpPr>
          <p:cNvPr id="37" name="Oval 36"/>
          <p:cNvSpPr/>
          <p:nvPr/>
        </p:nvSpPr>
        <p:spPr>
          <a:xfrm>
            <a:off x="5306001" y="3870762"/>
            <a:ext cx="100584" cy="100584"/>
          </a:xfrm>
          <a:prstGeom prst="ellipse">
            <a:avLst/>
          </a:prstGeom>
          <a:solidFill>
            <a:srgbClr val="D3CC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6001" y="4131366"/>
            <a:ext cx="13968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84806F"/>
                </a:solidFill>
                <a:latin typeface="Arial"/>
                <a:ea typeface="Arial"/>
                <a:cs typeface="Arial"/>
              </a:rPr>
              <a:t>04  </a:t>
            </a:r>
            <a:r>
              <a:rPr sz="12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CLR + PCA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6001" y="4369110"/>
            <a:ext cx="1396811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5 компонент</a:t>
            </a:r>
          </a:p>
        </p:txBody>
      </p:sp>
      <p:sp>
        <p:nvSpPr>
          <p:cNvPr id="40" name="Oval 39"/>
          <p:cNvSpPr/>
          <p:nvPr/>
        </p:nvSpPr>
        <p:spPr>
          <a:xfrm>
            <a:off x="6885693" y="3870762"/>
            <a:ext cx="100584" cy="100584"/>
          </a:xfrm>
          <a:prstGeom prst="ellipse">
            <a:avLst/>
          </a:prstGeom>
          <a:solidFill>
            <a:srgbClr val="D3CC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85693" y="4131366"/>
            <a:ext cx="13968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84806F"/>
                </a:solidFill>
                <a:latin typeface="Arial"/>
                <a:ea typeface="Arial"/>
                <a:cs typeface="Arial"/>
              </a:rPr>
              <a:t>05  </a:t>
            </a:r>
            <a:r>
              <a:rPr sz="12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Кластеры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85693" y="4369110"/>
            <a:ext cx="1396811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k = 5</a:t>
            </a:r>
          </a:p>
        </p:txBody>
      </p:sp>
      <p:sp>
        <p:nvSpPr>
          <p:cNvPr id="43" name="Oval 42"/>
          <p:cNvSpPr/>
          <p:nvPr/>
        </p:nvSpPr>
        <p:spPr>
          <a:xfrm>
            <a:off x="8465384" y="3870762"/>
            <a:ext cx="100584" cy="100584"/>
          </a:xfrm>
          <a:prstGeom prst="ellipse">
            <a:avLst/>
          </a:prstGeom>
          <a:solidFill>
            <a:srgbClr val="D3CC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65384" y="4131366"/>
            <a:ext cx="13968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84806F"/>
                </a:solidFill>
                <a:latin typeface="Arial"/>
                <a:ea typeface="Arial"/>
                <a:cs typeface="Arial"/>
              </a:rPr>
              <a:t>06  </a:t>
            </a:r>
            <a:r>
              <a:rPr sz="12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Проверки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65384" y="4369110"/>
            <a:ext cx="1396811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перестановки, LOO</a:t>
            </a:r>
          </a:p>
        </p:txBody>
      </p:sp>
      <p:sp>
        <p:nvSpPr>
          <p:cNvPr id="46" name="Oval 45"/>
          <p:cNvSpPr/>
          <p:nvPr/>
        </p:nvSpPr>
        <p:spPr>
          <a:xfrm>
            <a:off x="10045075" y="3870762"/>
            <a:ext cx="100584" cy="100584"/>
          </a:xfrm>
          <a:prstGeom prst="ellipse">
            <a:avLst/>
          </a:prstGeom>
          <a:solidFill>
            <a:srgbClr val="D3CC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45075" y="4131366"/>
            <a:ext cx="13968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60">
                <a:solidFill>
                  <a:srgbClr val="84806F"/>
                </a:solidFill>
                <a:latin typeface="Arial"/>
                <a:ea typeface="Arial"/>
                <a:cs typeface="Arial"/>
              </a:rPr>
              <a:t>07  </a:t>
            </a:r>
            <a:r>
              <a:rPr sz="120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Меры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45075" y="4369110"/>
            <a:ext cx="1396811" cy="228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50 действий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6382512"/>
            <a:ext cx="10344607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КРИТЕРИЙ 1 · ПРОРАБОТКА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6217920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6928" y="6217920"/>
            <a:ext cx="10320649" cy="12700"/>
          </a:xfrm>
          <a:prstGeom prst="rect">
            <a:avLst/>
          </a:prstGeom>
          <a:solidFill>
            <a:srgbClr val="8480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ФИНАЛ · 6:30–7:00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57839" cy="492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1B1A17"/>
                </a:solidFill>
                <a:latin typeface="Times New Roman"/>
                <a:ea typeface="Times New Roman"/>
                <a:cs typeface="Times New Roman"/>
              </a:rPr>
              <a:t>Готово к внедрению сегодня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6791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81111"/>
            <a:ext cx="5989320" cy="1434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Мы начали с того, что отчётность собирают, а решений по ней не принимают. </a:t>
            </a:r>
            <a:r>
              <a:rPr sz="1650" b="1">
                <a:solidFill>
                  <a:srgbClr val="1B1A17"/>
                </a:solidFill>
                <a:latin typeface="Arial"/>
                <a:ea typeface="Arial"/>
                <a:cs typeface="Arial"/>
              </a:rPr>
              <a:t>Вот пятьдесят решений</a:t>
            </a:r>
            <a:r>
              <a:rPr sz="16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 — с обоснованием, оценкой эффекта и честной пометкой там, где данным нельзя доверять.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307872"/>
            <a:ext cx="5989320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582192"/>
            <a:ext cx="2811779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Новый отчётный период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56512"/>
            <a:ext cx="28117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30">
                <a:solidFill>
                  <a:srgbClr val="1B1A17"/>
                </a:solidFill>
                <a:latin typeface="Courier New"/>
                <a:ea typeface="Courier New"/>
                <a:cs typeface="Courier New"/>
              </a:rPr>
              <a:t>POST /reload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95424"/>
            <a:ext cx="2811779" cy="450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положить файлы в каталог — модели пересоберутся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4468" y="3582192"/>
            <a:ext cx="2811779" cy="205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Новый показатель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4468" y="3856512"/>
            <a:ext cx="28117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30">
                <a:solidFill>
                  <a:srgbClr val="1B1A17"/>
                </a:solidFill>
                <a:latin typeface="Arial"/>
                <a:ea typeface="Arial"/>
                <a:cs typeface="Arial"/>
              </a:rPr>
              <a:t>одна запись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4468" y="4295424"/>
            <a:ext cx="2811779" cy="2435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4806F"/>
                </a:solidFill>
                <a:latin typeface="Arial"/>
                <a:ea typeface="Arial"/>
                <a:cs typeface="Arial"/>
              </a:rPr>
              <a:t>в схеме показателей — и он в конвейере</a:t>
            </a:r>
          </a:p>
        </p:txBody>
      </p:sp>
      <p:pic>
        <p:nvPicPr>
          <p:cNvPr id="13" name="Picture 12" descr="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323" y="1581111"/>
            <a:ext cx="3951443" cy="3009176"/>
          </a:xfrm>
          <a:prstGeom prst="rect">
            <a:avLst/>
          </a:prstGeom>
          <a:ln w="9525">
            <a:solidFill>
              <a:srgbClr val="D3CCBC"/>
            </a:solidFill>
          </a:ln>
          <a:effectLst/>
        </p:spPr>
      </p:pic>
      <p:sp>
        <p:nvSpPr>
          <p:cNvPr id="14" name="Rounded Rectangle 13"/>
          <p:cNvSpPr/>
          <p:nvPr/>
        </p:nvSpPr>
        <p:spPr>
          <a:xfrm>
            <a:off x="566928" y="4974336"/>
            <a:ext cx="11057839" cy="1060704"/>
          </a:xfrm>
          <a:prstGeom prst="roundRect">
            <a:avLst>
              <a:gd name="adj" fmla="val 3500"/>
            </a:avLst>
          </a:prstGeom>
          <a:solidFill>
            <a:srgbClr val="FCFAF6"/>
          </a:solidFill>
          <a:ln w="9525">
            <a:solidFill>
              <a:srgbClr val="D3CCB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93792"/>
            <a:ext cx="4206240" cy="168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90">
                <a:solidFill>
                  <a:srgbClr val="84806F"/>
                </a:solidFill>
                <a:latin typeface="Arial"/>
                <a:ea typeface="Arial"/>
                <a:cs typeface="Arial"/>
              </a:rPr>
              <a:t>ДЕМО · ОТКРЫТО ПРЯМО СЕЙЧАС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9823"/>
            <a:ext cx="6400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-20">
                <a:solidFill>
                  <a:srgbClr val="1B1A17"/>
                </a:solidFill>
                <a:latin typeface="Courier New"/>
                <a:ea typeface="Courier New"/>
                <a:cs typeface="Courier New"/>
              </a:rPr>
              <a:t>vitaliysoftware.duckdns.org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5269567"/>
            <a:ext cx="3669487" cy="506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6534A"/>
                </a:solidFill>
                <a:latin typeface="Arial"/>
                <a:ea typeface="Arial"/>
                <a:cs typeface="Arial"/>
              </a:rPr>
              <a:t>Можно открыть с телефона, пока мы говорим. Развёрнуто в Docker, работает по HTTPS.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VITALIY SOFTWARE SOLUTIONS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11057839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10344607" cy="15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spc="80">
                <a:solidFill>
                  <a:srgbClr val="84806F"/>
                </a:solidFill>
                <a:latin typeface="Arial"/>
                <a:ea typeface="Arial"/>
                <a:cs typeface="Arial"/>
              </a:rPr>
              <a:t>КРИТЕРИЙ 5 · ПРЕЗЕНТАЦИЯ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217920"/>
            <a:ext cx="11057839" cy="6350"/>
          </a:xfrm>
          <a:prstGeom prst="rect">
            <a:avLst/>
          </a:prstGeom>
          <a:solidFill>
            <a:srgbClr val="E3DE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6217920"/>
            <a:ext cx="11057839" cy="12700"/>
          </a:xfrm>
          <a:prstGeom prst="rect">
            <a:avLst/>
          </a:prstGeom>
          <a:solidFill>
            <a:srgbClr val="8480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xmlns:a="http://schemas.openxmlformats.org/drawingml/2006/main" name="ВитДашборд">
      <a:majorFont>
        <a:latin typeface="Times New Roman"/>
        <a:ea typeface="Times New Roman"/>
        <a:cs typeface="Times New Roman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xmlns:a="http://schemas.openxmlformats.org/drawingml/2006/main" name="ВитДашборд">
      <a:majorFont>
        <a:latin typeface="Times New Roman"/>
        <a:ea typeface="Times New Roman"/>
        <a:cs typeface="Times New Roman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